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10581ab36b4751" /><Relationship Type="http://schemas.openxmlformats.org/officeDocument/2006/relationships/extended-properties" Target="/docProps/app.xml" Id="R1658727eb6c6421f" /><Relationship Type="http://schemas.openxmlformats.org/officeDocument/2006/relationships/officeDocument" Target="/ppt/presentation.xml" Id="R30373a47bed946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7eca831bf84d7f"/>
  </p:sldMasterIdLst>
  <p:notesMasterIdLst>
    <p:notesMasterId xmlns:r="http://schemas.openxmlformats.org/officeDocument/2006/relationships" r:id="Rd5d2067d0d2e4f28"/>
  </p:notesMasterIdLst>
  <p:sldIdLst>
    <p:sldId xmlns:r="http://schemas.openxmlformats.org/officeDocument/2006/relationships" id="256" r:id="Rd90d8c4b99c547a6"/>
    <p:sldId xmlns:r="http://schemas.openxmlformats.org/officeDocument/2006/relationships" id="257" r:id="R0fd462d7b0d84c61"/>
    <p:sldId xmlns:r="http://schemas.openxmlformats.org/officeDocument/2006/relationships" id="258" r:id="Rd9321c520bf646a6"/>
    <p:sldId xmlns:r="http://schemas.openxmlformats.org/officeDocument/2006/relationships" id="259" r:id="Rac8188998c8045ed"/>
    <p:sldId xmlns:r="http://schemas.openxmlformats.org/officeDocument/2006/relationships" id="260" r:id="Rfa8df90df2ce403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1b7218ff424af8" /><Relationship Type="http://schemas.openxmlformats.org/officeDocument/2006/relationships/slideMaster" Target="/ppt/slideMasters/slideMaster1.xml" Id="R717eca831bf84d7f" /><Relationship Type="http://schemas.openxmlformats.org/officeDocument/2006/relationships/notesMaster" Target="/ppt/notesMasters/notesMaster1.xml" Id="Rd5d2067d0d2e4f28" /><Relationship Type="http://schemas.openxmlformats.org/officeDocument/2006/relationships/presProps" Target="/ppt/presProps.xml" Id="R79243f6d93ff43c6" /><Relationship Type="http://schemas.openxmlformats.org/officeDocument/2006/relationships/tableStyles" Target="/ppt/tableStyles.xml" Id="R0d63c12204c84d2a" /><Relationship Type="http://schemas.openxmlformats.org/officeDocument/2006/relationships/slide" Target="/ppt/slides/slide1.xml" Id="Rd90d8c4b99c547a6" /><Relationship Type="http://schemas.openxmlformats.org/officeDocument/2006/relationships/slide" Target="/ppt/slides/slide2.xml" Id="R0fd462d7b0d84c61" /><Relationship Type="http://schemas.openxmlformats.org/officeDocument/2006/relationships/slide" Target="/ppt/slides/slide3.xml" Id="Rd9321c520bf646a6" /><Relationship Type="http://schemas.openxmlformats.org/officeDocument/2006/relationships/slide" Target="/ppt/slides/slide4.xml" Id="Rac8188998c8045ed" /><Relationship Type="http://schemas.openxmlformats.org/officeDocument/2006/relationships/slide" Target="/ppt/slides/slide5.xml" Id="Rfa8df90df2ce40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c0233d030d49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eekly Update">
  <a:themeElements>
    <a:clrScheme name="Weekly Update">
      <a:dk1>
        <a:srgbClr val="000000"/>
      </a:dk1>
      <a:lt1>
        <a:srgbClr val="FFFFFF"/>
      </a:lt1>
      <a:dk2>
        <a:srgbClr val="333333"/>
      </a:dk2>
      <a:lt2>
        <a:srgbClr val="EDEDED"/>
      </a:lt2>
      <a:accent1>
        <a:srgbClr val="FFFF00"/>
      </a:accent1>
      <a:accent2>
        <a:srgbClr val="2E7D32"/>
      </a:accent2>
      <a:accent3>
        <a:srgbClr val="E65100"/>
      </a:accent3>
      <a:accent4>
        <a:srgbClr val="C62828"/>
      </a:accent4>
      <a:accent5>
        <a:srgbClr val="1565C0"/>
      </a:accent5>
      <a:accent6>
        <a:srgbClr val="666666"/>
      </a:accent6>
      <a:hlink>
        <a:srgbClr val="1565C0"/>
      </a:hlink>
      <a:folHlink>
        <a:srgbClr val="666666"/>
      </a:folHlink>
    </a:clrScheme>
    <a:fontScheme name="Weekly Updat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Weekly Upda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96f9516a174391" /><Relationship Type="http://schemas.openxmlformats.org/officeDocument/2006/relationships/notesMaster" Target="/ppt/notesMasters/notesMaster1.xml" Id="Ra4c6942da14248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37b981a35a4d74" /><Relationship Type="http://schemas.openxmlformats.org/officeDocument/2006/relationships/notesMaster" Target="/ppt/notesMasters/notesMaster1.xml" Id="Rf8938d1ab0e448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eee0e05a8b4955" /><Relationship Type="http://schemas.openxmlformats.org/officeDocument/2006/relationships/notesMaster" Target="/ppt/notesMasters/notesMaster1.xml" Id="R61ceb3a3e71547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ee9548cd0d4064" /><Relationship Type="http://schemas.openxmlformats.org/officeDocument/2006/relationships/notesMaster" Target="/ppt/notesMasters/notesMaster1.xml" Id="Reee433e166104e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a3a8c508e84ea4" /><Relationship Type="http://schemas.openxmlformats.org/officeDocument/2006/relationships/notesMaster" Target="/ppt/notesMasters/notesMaster1.xml" Id="Rd825d1c2daef4a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new weekly deck covers Oct20–26 work only; prior-week detector rankings are not repeated. Source: manual/README.md, site_summary.csv, final_batch_export.json and Aloma recovery47763750. Count labels are candidates until visually reviewed. The selected study intervals record50bicycles versus30submitted manual encounters, not a50-person speed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Formula: project each image groundpoint through saved H, sum Euclidean distances between successive projected points in metres, divide by last-first presentation seconds, multiply2.2369362921. Manual means weight each available cyclist equally. Automatic estimates use median approximately1second local velocity windows; the two estimators are not identical. Mighk provenance is user-supplied email. Existing source mph is already playback-adjusted; no second factor2. Aloma Path191 and separate Sidewalk19 come from fullOct30–31count workbooks; selected path45mincontains4; speed sample26neednotbe same session. Reference: https://openaccess.thecvf.com/content/ICCV2021/html/Revaud_Robust_Automatic_Monocular_Vehicle_Speed_Estimation_for_Traffic_Surveillance_ICCV_2021_paper.html ; author code https://github.com/naver/cctv ; optical flow https://docs.opencv.org/4.x/d4/dee/tutorial_optical_flow.html . Car-paper benchmark is not bicycle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"location": "Aloma",</a:t>
            </a:r>
          </a:p>
          <a:p xmlns:a="http://schemas.openxmlformats.org/drawingml/2006/main">
            <a:r>
              <a:t>    "positive_or_missing_bins": "3",</a:t>
            </a:r>
          </a:p>
          <a:p xmlns:a="http://schemas.openxmlformats.org/drawingml/2006/main">
            <a:r>
              <a:t>    "bins_with_json": "3",</a:t>
            </a:r>
          </a:p>
          <a:p xmlns:a="http://schemas.openxmlformats.org/drawingml/2006/main">
            <a:r>
              <a:t>    "study_cyclists_in_selected_bins": "4",</a:t>
            </a:r>
          </a:p>
          <a:p xmlns:a="http://schemas.openxmlformats.org/drawingml/2006/main">
            <a:r>
              <a:t>    "manual_annotated_encounters": "4",</a:t>
            </a:r>
          </a:p>
          <a:p xmlns:a="http://schemas.openxmlformats.org/drawingml/2006/main">
            <a:r>
              <a:t>    "study_minus_annotated": "0",</a:t>
            </a:r>
          </a:p>
          <a:p xmlns:a="http://schemas.openxmlformats.org/drawingml/2006/main">
            <a:r>
              <a:t>    "manual_speed_sample": "4",</a:t>
            </a:r>
          </a:p>
          <a:p xmlns:a="http://schemas.openxmlformats.org/drawingml/2006/main">
            <a:r>
              <a:t>    "manual_mean_mph": "19.81304890255277",</a:t>
            </a:r>
          </a:p>
          <a:p xmlns:a="http://schemas.openxmlformats.org/drawingml/2006/main">
            <a:r>
              <a:t>    "study_speed_reference_sample": "26",</a:t>
            </a:r>
          </a:p>
          <a:p xmlns:a="http://schemas.openxmlformats.org/drawingml/2006/main">
            <a:r>
              <a:t>    "study_speed_mean_mph": "13.575419496687307",</a:t>
            </a:r>
          </a:p>
          <a:p xmlns:a="http://schemas.openxmlformats.org/drawingml/2006/main">
            <a:r>
              <a:t>    "difference_mph": "6.237629405865462",</a:t>
            </a:r>
          </a:p>
          <a:p xmlns:a="http://schemas.openxmlformats.org/drawingml/2006/main">
            <a:r>
              <a:t>    "status": "UNMATCHED_GROUP_COMPARISON_NOT_SPEED_ACCURACY",</a:t>
            </a:r>
          </a:p>
          <a:p xmlns:a="http://schemas.openxmlformats.org/drawingml/2006/main">
            <a:r>
              <a:t>    "automatic_speed_sample": "0",</a:t>
            </a:r>
          </a:p>
          <a:p xmlns:a="http://schemas.openxmlformats.org/drawingml/2006/main">
            <a:r>
              <a:t>    "automatic_mean_mph": "",</a:t>
            </a:r>
          </a:p>
          <a:p xmlns:a="http://schemas.openxmlformats.org/drawingml/2006/main">
            <a:r>
              <a:t>    "automatic_minutes": "59.97553092592592",</a:t>
            </a:r>
          </a:p>
          <a:p xmlns:a="http://schemas.openxmlformats.org/drawingml/2006/main">
            <a:r>
              <a:t>    "automatic_state": "TARGET_NOT_REACHED_WITHIN_LIMIT",</a:t>
            </a:r>
          </a:p>
          <a:p xmlns:a="http://schemas.openxmlformats.org/drawingml/2006/main">
            <a:r>
              <a:t>    "automatic_found_candidates": "5",</a:t>
            </a:r>
          </a:p>
          <a:p xmlns:a="http://schemas.openxmlformats.org/drawingml/2006/main">
            <a:r>
              <a:t>    "automatic_counted_candidates": "0",</a:t>
            </a:r>
          </a:p>
          <a:p xmlns:a="http://schemas.openxmlformats.org/drawingml/2006/main">
            <a:r>
              <a:t>    "automatic_count_matched_bins": "2",</a:t>
            </a:r>
          </a:p>
          <a:p xmlns:a="http://schemas.openxmlformats.org/drawingml/2006/main">
            <a:r>
              <a:t>    "automatic_count_available_bins": "0",</a:t>
            </a:r>
          </a:p>
          <a:p xmlns:a="http://schemas.openxmlformats.org/drawingml/2006/main">
            <a:r>
              <a:t>    "study_count_automatic_available_bins": "2",</a:t>
            </a:r>
          </a:p>
          <a:p xmlns:a="http://schemas.openxmlformats.org/drawingml/2006/main">
            <a:r>
              <a:t>    "automatic_count_in_selected_bins": ""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"location": "Carroll",</a:t>
            </a:r>
          </a:p>
          <a:p xmlns:a="http://schemas.openxmlformats.org/drawingml/2006/main">
            <a:r>
              <a:t>    "positive_or_missing_bins": "1",</a:t>
            </a:r>
          </a:p>
          <a:p xmlns:a="http://schemas.openxmlformats.org/drawingml/2006/main">
            <a:r>
              <a:t>    "bins_with_json": "1",</a:t>
            </a:r>
          </a:p>
          <a:p xmlns:a="http://schemas.openxmlformats.org/drawingml/2006/main">
            <a:r>
              <a:t>    "study_cyclists_in_selected_bins": "2",</a:t>
            </a:r>
          </a:p>
          <a:p xmlns:a="http://schemas.openxmlformats.org/drawingml/2006/main">
            <a:r>
              <a:t>    "manual_annotated_encounters": "2",</a:t>
            </a:r>
          </a:p>
          <a:p xmlns:a="http://schemas.openxmlformats.org/drawingml/2006/main">
            <a:r>
              <a:t>    "study_minus_annotated": "0",</a:t>
            </a:r>
          </a:p>
          <a:p xmlns:a="http://schemas.openxmlformats.org/drawingml/2006/main">
            <a:r>
              <a:t>    "manual_speed_sample": "2",</a:t>
            </a:r>
          </a:p>
          <a:p xmlns:a="http://schemas.openxmlformats.org/drawingml/2006/main">
            <a:r>
              <a:t>    "manual_mean_mph": "12.367093766895827",</a:t>
            </a:r>
          </a:p>
          <a:p xmlns:a="http://schemas.openxmlformats.org/drawingml/2006/main">
            <a:r>
              <a:t>    "study_speed_reference_sample": "15",</a:t>
            </a:r>
          </a:p>
          <a:p xmlns:a="http://schemas.openxmlformats.org/drawingml/2006/main">
            <a:r>
              <a:t>    "study_speed_mean_mph": "11.891882086732453",</a:t>
            </a:r>
          </a:p>
          <a:p xmlns:a="http://schemas.openxmlformats.org/drawingml/2006/main">
            <a:r>
              <a:t>    "difference_mph": "0.47521168016337434",</a:t>
            </a:r>
          </a:p>
          <a:p xmlns:a="http://schemas.openxmlformats.org/drawingml/2006/main">
            <a:r>
              <a:t>    "status": "UNMATCHED_GROUP_COMPARISON_NOT_SPEED_ACCURACY",</a:t>
            </a:r>
          </a:p>
          <a:p xmlns:a="http://schemas.openxmlformats.org/drawingml/2006/main">
            <a:r>
              <a:t>    "automatic_speed_sample": "0",</a:t>
            </a:r>
          </a:p>
          <a:p xmlns:a="http://schemas.openxmlformats.org/drawingml/2006/main">
            <a:r>
              <a:t>    "automatic_mean_mph": "",</a:t>
            </a:r>
          </a:p>
          <a:p xmlns:a="http://schemas.openxmlformats.org/drawingml/2006/main">
            <a:r>
              <a:t>    "automatic_minutes": "59.99499481481482",</a:t>
            </a:r>
          </a:p>
          <a:p xmlns:a="http://schemas.openxmlformats.org/drawingml/2006/main">
            <a:r>
              <a:t>    "automatic_state": "TARGET_NOT_REACHED_WITHIN_LIMIT",</a:t>
            </a:r>
          </a:p>
          <a:p xmlns:a="http://schemas.openxmlformats.org/drawingml/2006/main">
            <a:r>
              <a:t>    "automatic_found_candidates": "12",</a:t>
            </a:r>
          </a:p>
          <a:p xmlns:a="http://schemas.openxmlformats.org/drawingml/2006/main">
            <a:r>
              <a:t>    "automatic_counted_candidates": "0",</a:t>
            </a:r>
          </a:p>
          <a:p xmlns:a="http://schemas.openxmlformats.org/drawingml/2006/main">
            <a:r>
              <a:t>    "automatic_count_matched_bins": "1",</a:t>
            </a:r>
          </a:p>
          <a:p xmlns:a="http://schemas.openxmlformats.org/drawingml/2006/main">
            <a:r>
              <a:t>    "automatic_count_available_bins": "0",</a:t>
            </a:r>
          </a:p>
          <a:p xmlns:a="http://schemas.openxmlformats.org/drawingml/2006/main">
            <a:r>
              <a:t>    "study_count_automatic_available_bins": "2",</a:t>
            </a:r>
          </a:p>
          <a:p xmlns:a="http://schemas.openxmlformats.org/drawingml/2006/main">
            <a:r>
              <a:t>    "automatic_count_in_selected_bins": "0"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"location": "Colonial",</a:t>
            </a:r>
          </a:p>
          <a:p xmlns:a="http://schemas.openxmlformats.org/drawingml/2006/main">
            <a:r>
              <a:t>    "positive_or_missing_bins": "2",</a:t>
            </a:r>
          </a:p>
          <a:p xmlns:a="http://schemas.openxmlformats.org/drawingml/2006/main">
            <a:r>
              <a:t>    "bins_with_json": "2",</a:t>
            </a:r>
          </a:p>
          <a:p xmlns:a="http://schemas.openxmlformats.org/drawingml/2006/main">
            <a:r>
              <a:t>    "study_cyclists_in_selected_bins": "3",</a:t>
            </a:r>
          </a:p>
          <a:p xmlns:a="http://schemas.openxmlformats.org/drawingml/2006/main">
            <a:r>
              <a:t>    "manual_annotated_encounters": "3",</a:t>
            </a:r>
          </a:p>
          <a:p xmlns:a="http://schemas.openxmlformats.org/drawingml/2006/main">
            <a:r>
              <a:t>    "study_minus_annotated": "0",</a:t>
            </a:r>
          </a:p>
          <a:p xmlns:a="http://schemas.openxmlformats.org/drawingml/2006/main">
            <a:r>
              <a:t>    "manual_speed_sample": "3",</a:t>
            </a:r>
          </a:p>
          <a:p xmlns:a="http://schemas.openxmlformats.org/drawingml/2006/main">
            <a:r>
              <a:t>    "manual_mean_mph": "10.713144022995108",</a:t>
            </a:r>
          </a:p>
          <a:p xmlns:a="http://schemas.openxmlformats.org/drawingml/2006/main">
            <a:r>
              <a:t>    "study_speed_reference_sample": "23",</a:t>
            </a:r>
          </a:p>
          <a:p xmlns:a="http://schemas.openxmlformats.org/drawingml/2006/main">
            <a:r>
              <a:t>    "study_speed_mean_mph": "9.537892828369984",</a:t>
            </a:r>
          </a:p>
          <a:p xmlns:a="http://schemas.openxmlformats.org/drawingml/2006/main">
            <a:r>
              <a:t>    "difference_mph": "1.1752511946251243",</a:t>
            </a:r>
          </a:p>
          <a:p xmlns:a="http://schemas.openxmlformats.org/drawingml/2006/main">
            <a:r>
              <a:t>    "status": "UNMATCHED_GROUP_COMPARISON_NOT_SPEED_ACCURACY",</a:t>
            </a:r>
          </a:p>
          <a:p xmlns:a="http://schemas.openxmlformats.org/drawingml/2006/main">
            <a:r>
              <a:t>    "automatic_speed_sample": "3",</a:t>
            </a:r>
          </a:p>
          <a:p xmlns:a="http://schemas.openxmlformats.org/drawingml/2006/main">
            <a:r>
              <a:t>    "automatic_mean_mph": "7.628333333333334",</a:t>
            </a:r>
          </a:p>
          <a:p xmlns:a="http://schemas.openxmlformats.org/drawingml/2006/main">
            <a:r>
              <a:t>    "automatic_minutes": "59.98331648148148",</a:t>
            </a:r>
          </a:p>
          <a:p xmlns:a="http://schemas.openxmlformats.org/drawingml/2006/main">
            <a:r>
              <a:t>    "automatic_state": "TARGET_NOT_REACHED_WITHIN_LIMIT",</a:t>
            </a:r>
          </a:p>
          <a:p xmlns:a="http://schemas.openxmlformats.org/drawingml/2006/main">
            <a:r>
              <a:t>    "automatic_found_candidates": "6",</a:t>
            </a:r>
          </a:p>
          <a:p xmlns:a="http://schemas.openxmlformats.org/drawingml/2006/main">
            <a:r>
              <a:t>    "automatic_counted_candidates": "3",</a:t>
            </a:r>
          </a:p>
          <a:p xmlns:a="http://schemas.openxmlformats.org/drawingml/2006/main">
            <a:r>
              <a:t>    "automatic_count_matched_bins": "2",</a:t>
            </a:r>
          </a:p>
          <a:p xmlns:a="http://schemas.openxmlformats.org/drawingml/2006/main">
            <a:r>
              <a:t>    "automatic_count_available_bins": "3",</a:t>
            </a:r>
          </a:p>
          <a:p xmlns:a="http://schemas.openxmlformats.org/drawingml/2006/main">
            <a:r>
              <a:t>    "study_count_automatic_available_bins": "3",</a:t>
            </a:r>
          </a:p>
          <a:p xmlns:a="http://schemas.openxmlformats.org/drawingml/2006/main">
            <a:r>
              <a:t>    "automatic_count_in_selected_bins": "3"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"location": "Columbia",</a:t>
            </a:r>
          </a:p>
          <a:p xmlns:a="http://schemas.openxmlformats.org/drawingml/2006/main">
            <a:r>
              <a:t>    "positive_or_missing_bins": "4",</a:t>
            </a:r>
          </a:p>
          <a:p xmlns:a="http://schemas.openxmlformats.org/drawingml/2006/main">
            <a:r>
              <a:t>    "bins_with_json": "3",</a:t>
            </a:r>
          </a:p>
          <a:p xmlns:a="http://schemas.openxmlformats.org/drawingml/2006/main">
            <a:r>
              <a:t>    "study_cyclists_in_selected_bins": "6",</a:t>
            </a:r>
          </a:p>
          <a:p xmlns:a="http://schemas.openxmlformats.org/drawingml/2006/main">
            <a:r>
              <a:t>    "manual_annotated_encounters": "4",</a:t>
            </a:r>
          </a:p>
          <a:p xmlns:a="http://schemas.openxmlformats.org/drawingml/2006/main">
            <a:r>
              <a:t>    "study_minus_annotated": "2",</a:t>
            </a:r>
          </a:p>
          <a:p xmlns:a="http://schemas.openxmlformats.org/drawingml/2006/main">
            <a:r>
              <a:t>    "manual_speed_sample": "4",</a:t>
            </a:r>
          </a:p>
          <a:p xmlns:a="http://schemas.openxmlformats.org/drawingml/2006/main">
            <a:r>
              <a:t>    "manual_mean_mph": "12.474918976585204",</a:t>
            </a:r>
          </a:p>
          <a:p xmlns:a="http://schemas.openxmlformats.org/drawingml/2006/main">
            <a:r>
              <a:t>    "study_speed_reference_sample": "9",</a:t>
            </a:r>
          </a:p>
          <a:p xmlns:a="http://schemas.openxmlformats.org/drawingml/2006/main">
            <a:r>
              <a:t>    "study_speed_mean_mph": "12.236225656427031",</a:t>
            </a:r>
          </a:p>
          <a:p xmlns:a="http://schemas.openxmlformats.org/drawingml/2006/main">
            <a:r>
              <a:t>    "difference_mph": "0.23869332015817335",</a:t>
            </a:r>
          </a:p>
          <a:p xmlns:a="http://schemas.openxmlformats.org/drawingml/2006/main">
            <a:r>
              <a:t>    "status": "UNMATCHED_GROUP_COMPARISON_NOT_SPEED_ACCURACY",</a:t>
            </a:r>
          </a:p>
          <a:p xmlns:a="http://schemas.openxmlformats.org/drawingml/2006/main">
            <a:r>
              <a:t>    "automatic_speed_sample": "3",</a:t>
            </a:r>
          </a:p>
          <a:p xmlns:a="http://schemas.openxmlformats.org/drawingml/2006/main">
            <a:r>
              <a:t>    "automatic_mean_mph": "3.0396666666666667",</a:t>
            </a:r>
          </a:p>
          <a:p xmlns:a="http://schemas.openxmlformats.org/drawingml/2006/main">
            <a:r>
              <a:t>    "automatic_minutes": "30.0",</a:t>
            </a:r>
          </a:p>
          <a:p xmlns:a="http://schemas.openxmlformats.org/drawingml/2006/main">
            <a:r>
              <a:t>    "automatic_state": "TARGET_REACHED_PROVISIONAL",</a:t>
            </a:r>
          </a:p>
          <a:p xmlns:a="http://schemas.openxmlformats.org/drawingml/2006/main">
            <a:r>
              <a:t>    "automatic_found_candidates": "49",</a:t>
            </a:r>
          </a:p>
          <a:p xmlns:a="http://schemas.openxmlformats.org/drawingml/2006/main">
            <a:r>
              <a:t>    "automatic_counted_candidates": "6",</a:t>
            </a:r>
          </a:p>
          <a:p xmlns:a="http://schemas.openxmlformats.org/drawingml/2006/main">
            <a:r>
              <a:t>    "automatic_count_matched_bins": "2",</a:t>
            </a:r>
          </a:p>
          <a:p xmlns:a="http://schemas.openxmlformats.org/drawingml/2006/main">
            <a:r>
              <a:t>    "automatic_count_available_bins": "6",</a:t>
            </a:r>
          </a:p>
          <a:p xmlns:a="http://schemas.openxmlformats.org/drawingml/2006/main">
            <a:r>
              <a:t>    "study_count_automatic_available_bins": "3",</a:t>
            </a:r>
          </a:p>
          <a:p xmlns:a="http://schemas.openxmlformats.org/drawingml/2006/main">
            <a:r>
              <a:t>    "automatic_count_in_selected_bins": ""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"location": "Edgewater",</a:t>
            </a:r>
          </a:p>
          <a:p xmlns:a="http://schemas.openxmlformats.org/drawingml/2006/main">
            <a:r>
              <a:t>    "positive_or_missing_bins": "4",</a:t>
            </a:r>
          </a:p>
          <a:p xmlns:a="http://schemas.openxmlformats.org/drawingml/2006/main">
            <a:r>
              <a:t>    "bins_with_json": "4",</a:t>
            </a:r>
          </a:p>
          <a:p xmlns:a="http://schemas.openxmlformats.org/drawingml/2006/main">
            <a:r>
              <a:t>    "study_cyclists_in_selected_bins": "10",</a:t>
            </a:r>
          </a:p>
          <a:p xmlns:a="http://schemas.openxmlformats.org/drawingml/2006/main">
            <a:r>
              <a:t>    "manual_annotated_encounters": "6",</a:t>
            </a:r>
          </a:p>
          <a:p xmlns:a="http://schemas.openxmlformats.org/drawingml/2006/main">
            <a:r>
              <a:t>    "study_minus_annotated": "4",</a:t>
            </a:r>
          </a:p>
          <a:p xmlns:a="http://schemas.openxmlformats.org/drawingml/2006/main">
            <a:r>
              <a:t>    "manual_speed_sample": "5",</a:t>
            </a:r>
          </a:p>
          <a:p xmlns:a="http://schemas.openxmlformats.org/drawingml/2006/main">
            <a:r>
              <a:t>    "manual_mean_mph": "13.995873384381563",</a:t>
            </a:r>
          </a:p>
          <a:p xmlns:a="http://schemas.openxmlformats.org/drawingml/2006/main">
            <a:r>
              <a:t>    "study_speed_reference_sample": "50",</a:t>
            </a:r>
          </a:p>
          <a:p xmlns:a="http://schemas.openxmlformats.org/drawingml/2006/main">
            <a:r>
              <a:t>    "study_speed_mean_mph": "12.023144803930444",</a:t>
            </a:r>
          </a:p>
          <a:p xmlns:a="http://schemas.openxmlformats.org/drawingml/2006/main">
            <a:r>
              <a:t>    "difference_mph": "1.9727285804511183",</a:t>
            </a:r>
          </a:p>
          <a:p xmlns:a="http://schemas.openxmlformats.org/drawingml/2006/main">
            <a:r>
              <a:t>    "status": "UNMATCHED_GROUP_COMPARISON_NOT_SPEED_ACCURACY",</a:t>
            </a:r>
          </a:p>
          <a:p xmlns:a="http://schemas.openxmlformats.org/drawingml/2006/main">
            <a:r>
              <a:t>    "automatic_speed_sample": "2",</a:t>
            </a:r>
          </a:p>
          <a:p xmlns:a="http://schemas.openxmlformats.org/drawingml/2006/main">
            <a:r>
              <a:t>    "automatic_mean_mph": "17.5745",</a:t>
            </a:r>
          </a:p>
          <a:p xmlns:a="http://schemas.openxmlformats.org/drawingml/2006/main">
            <a:r>
              <a:t>    "automatic_minutes": "59.977755370370375",</a:t>
            </a:r>
          </a:p>
          <a:p xmlns:a="http://schemas.openxmlformats.org/drawingml/2006/main">
            <a:r>
              <a:t>    "automatic_state": "TARGET_NOT_REACHED_WITHIN_LIMIT",</a:t>
            </a:r>
          </a:p>
          <a:p xmlns:a="http://schemas.openxmlformats.org/drawingml/2006/main">
            <a:r>
              <a:t>    "automatic_found_candidates": "18",</a:t>
            </a:r>
          </a:p>
          <a:p xmlns:a="http://schemas.openxmlformats.org/drawingml/2006/main">
            <a:r>
              <a:t>    "automatic_counted_candidates": "2",</a:t>
            </a:r>
          </a:p>
          <a:p xmlns:a="http://schemas.openxmlformats.org/drawingml/2006/main">
            <a:r>
              <a:t>    "automatic_count_matched_bins": "3",</a:t>
            </a:r>
          </a:p>
          <a:p xmlns:a="http://schemas.openxmlformats.org/drawingml/2006/main">
            <a:r>
              <a:t>    "automatic_count_available_bins": "2",</a:t>
            </a:r>
          </a:p>
          <a:p xmlns:a="http://schemas.openxmlformats.org/drawingml/2006/main">
            <a:r>
              <a:t>    "study_count_automatic_available_bins": "5",</a:t>
            </a:r>
          </a:p>
          <a:p xmlns:a="http://schemas.openxmlformats.org/drawingml/2006/main">
            <a:r>
              <a:t>    "automatic_count_in_selected_bins": ""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Source: manual/analysis/site_summary.csv; available duration reference manual/analysis/recording_durations.csv. HiPerGator baseline daytime minimum3seconds; shortday1.5experiment not included. Values are unmatched group comparisons using shared calibration. Count study sample differs from speed-study sample. Exact per-cyclist times in manual/analysis/encounters.csv. Automatic same-bin count ratios: Aloma0/2in2of3selectedcompletebins(lastpartial);Carroll0/2;Colonial3/3;Columbia6/3in2of4bins;Edgewater2/5in3of4;Lee2/10;PleasantHill2/2;Rinehart0/3;University1/1in1of2;WestOrange1/5. These count ratios do not establish precision/recall without identity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"location": "Lee",</a:t>
            </a:r>
          </a:p>
          <a:p xmlns:a="http://schemas.openxmlformats.org/drawingml/2006/main">
            <a:r>
              <a:t>    "positive_or_missing_bins": "4",</a:t>
            </a:r>
          </a:p>
          <a:p xmlns:a="http://schemas.openxmlformats.org/drawingml/2006/main">
            <a:r>
              <a:t>    "bins_with_json": "2",</a:t>
            </a:r>
          </a:p>
          <a:p xmlns:a="http://schemas.openxmlformats.org/drawingml/2006/main">
            <a:r>
              <a:t>    "study_cyclists_in_selected_bins": "10",</a:t>
            </a:r>
          </a:p>
          <a:p xmlns:a="http://schemas.openxmlformats.org/drawingml/2006/main">
            <a:r>
              <a:t>    "manual_annotated_encounters": "4",</a:t>
            </a:r>
          </a:p>
          <a:p xmlns:a="http://schemas.openxmlformats.org/drawingml/2006/main">
            <a:r>
              <a:t>    "study_minus_annotated": "6",</a:t>
            </a:r>
          </a:p>
          <a:p xmlns:a="http://schemas.openxmlformats.org/drawingml/2006/main">
            <a:r>
              <a:t>    "manual_speed_sample": "4",</a:t>
            </a:r>
          </a:p>
          <a:p xmlns:a="http://schemas.openxmlformats.org/drawingml/2006/main">
            <a:r>
              <a:t>    "manual_mean_mph": "12.356322952357381",</a:t>
            </a:r>
          </a:p>
          <a:p xmlns:a="http://schemas.openxmlformats.org/drawingml/2006/main">
            <a:r>
              <a:t>    "study_speed_reference_sample": "2",</a:t>
            </a:r>
          </a:p>
          <a:p xmlns:a="http://schemas.openxmlformats.org/drawingml/2006/main">
            <a:r>
              <a:t>    "study_speed_mean_mph": "8.726796729556256",</a:t>
            </a:r>
          </a:p>
          <a:p xmlns:a="http://schemas.openxmlformats.org/drawingml/2006/main">
            <a:r>
              <a:t>    "difference_mph": "3.6295262228011254",</a:t>
            </a:r>
          </a:p>
          <a:p xmlns:a="http://schemas.openxmlformats.org/drawingml/2006/main">
            <a:r>
              <a:t>    "status": "UNMATCHED_GROUP_COMPARISON_NOT_SPEED_ACCURACY",</a:t>
            </a:r>
          </a:p>
          <a:p xmlns:a="http://schemas.openxmlformats.org/drawingml/2006/main">
            <a:r>
              <a:t>    "automatic_speed_sample": "2",</a:t>
            </a:r>
          </a:p>
          <a:p xmlns:a="http://schemas.openxmlformats.org/drawingml/2006/main">
            <a:r>
              <a:t>    "automatic_mean_mph": "9.875",</a:t>
            </a:r>
          </a:p>
          <a:p xmlns:a="http://schemas.openxmlformats.org/drawingml/2006/main">
            <a:r>
              <a:t>    "automatic_minutes": "59.984428703703706",</a:t>
            </a:r>
          </a:p>
          <a:p xmlns:a="http://schemas.openxmlformats.org/drawingml/2006/main">
            <a:r>
              <a:t>    "automatic_state": "TARGET_REACHED_PROVISIONAL",</a:t>
            </a:r>
          </a:p>
          <a:p xmlns:a="http://schemas.openxmlformats.org/drawingml/2006/main">
            <a:r>
              <a:t>    "automatic_found_candidates": "6",</a:t>
            </a:r>
          </a:p>
          <a:p xmlns:a="http://schemas.openxmlformats.org/drawingml/2006/main">
            <a:r>
              <a:t>    "automatic_counted_candidates": "2",</a:t>
            </a:r>
          </a:p>
          <a:p xmlns:a="http://schemas.openxmlformats.org/drawingml/2006/main">
            <a:r>
              <a:t>    "automatic_count_matched_bins": "4",</a:t>
            </a:r>
          </a:p>
          <a:p xmlns:a="http://schemas.openxmlformats.org/drawingml/2006/main">
            <a:r>
              <a:t>    "automatic_count_available_bins": "2",</a:t>
            </a:r>
          </a:p>
          <a:p xmlns:a="http://schemas.openxmlformats.org/drawingml/2006/main">
            <a:r>
              <a:t>    "study_count_automatic_available_bins": "10",</a:t>
            </a:r>
          </a:p>
          <a:p xmlns:a="http://schemas.openxmlformats.org/drawingml/2006/main">
            <a:r>
              <a:t>    "automatic_count_in_selected_bins": "2"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"location": "Pleasant Hill",</a:t>
            </a:r>
          </a:p>
          <a:p xmlns:a="http://schemas.openxmlformats.org/drawingml/2006/main">
            <a:r>
              <a:t>    "positive_or_missing_bins": "1",</a:t>
            </a:r>
          </a:p>
          <a:p xmlns:a="http://schemas.openxmlformats.org/drawingml/2006/main">
            <a:r>
              <a:t>    "bins_with_json": "1",</a:t>
            </a:r>
          </a:p>
          <a:p xmlns:a="http://schemas.openxmlformats.org/drawingml/2006/main">
            <a:r>
              <a:t>    "study_cyclists_in_selected_bins": "2",</a:t>
            </a:r>
          </a:p>
          <a:p xmlns:a="http://schemas.openxmlformats.org/drawingml/2006/main">
            <a:r>
              <a:t>    "manual_annotated_encounters": "2",</a:t>
            </a:r>
          </a:p>
          <a:p xmlns:a="http://schemas.openxmlformats.org/drawingml/2006/main">
            <a:r>
              <a:t>    "study_minus_annotated": "0",</a:t>
            </a:r>
          </a:p>
          <a:p xmlns:a="http://schemas.openxmlformats.org/drawingml/2006/main">
            <a:r>
              <a:t>    "manual_speed_sample": "2",</a:t>
            </a:r>
          </a:p>
          <a:p xmlns:a="http://schemas.openxmlformats.org/drawingml/2006/main">
            <a:r>
              <a:t>    "manual_mean_mph": "8.993179723376995",</a:t>
            </a:r>
          </a:p>
          <a:p xmlns:a="http://schemas.openxmlformats.org/drawingml/2006/main">
            <a:r>
              <a:t>    "study_speed_reference_sample": "41",</a:t>
            </a:r>
          </a:p>
          <a:p xmlns:a="http://schemas.openxmlformats.org/drawingml/2006/main">
            <a:r>
              <a:t>    "study_speed_mean_mph": "9.860867904040742",</a:t>
            </a:r>
          </a:p>
          <a:p xmlns:a="http://schemas.openxmlformats.org/drawingml/2006/main">
            <a:r>
              <a:t>    "difference_mph": "-0.8676881806637464",</a:t>
            </a:r>
          </a:p>
          <a:p xmlns:a="http://schemas.openxmlformats.org/drawingml/2006/main">
            <a:r>
              <a:t>    "status": "UNMATCHED_GROUP_COMPARISON_NOT_SPEED_ACCURACY",</a:t>
            </a:r>
          </a:p>
          <a:p xmlns:a="http://schemas.openxmlformats.org/drawingml/2006/main">
            <a:r>
              <a:t>    "automatic_speed_sample": "2",</a:t>
            </a:r>
          </a:p>
          <a:p xmlns:a="http://schemas.openxmlformats.org/drawingml/2006/main">
            <a:r>
              <a:t>    "automatic_mean_mph": "8.9855",</a:t>
            </a:r>
          </a:p>
          <a:p xmlns:a="http://schemas.openxmlformats.org/drawingml/2006/main">
            <a:r>
              <a:t>    "automatic_minutes": "59.987765370370376",</a:t>
            </a:r>
          </a:p>
          <a:p xmlns:a="http://schemas.openxmlformats.org/drawingml/2006/main">
            <a:r>
              <a:t>    "automatic_state": "TARGET_NOT_REACHED_WITHIN_LIMIT",</a:t>
            </a:r>
          </a:p>
          <a:p xmlns:a="http://schemas.openxmlformats.org/drawingml/2006/main">
            <a:r>
              <a:t>    "automatic_found_candidates": "2",</a:t>
            </a:r>
          </a:p>
          <a:p xmlns:a="http://schemas.openxmlformats.org/drawingml/2006/main">
            <a:r>
              <a:t>    "automatic_counted_candidates": "2",</a:t>
            </a:r>
          </a:p>
          <a:p xmlns:a="http://schemas.openxmlformats.org/drawingml/2006/main">
            <a:r>
              <a:t>    "automatic_count_matched_bins": "1",</a:t>
            </a:r>
          </a:p>
          <a:p xmlns:a="http://schemas.openxmlformats.org/drawingml/2006/main">
            <a:r>
              <a:t>    "automatic_count_available_bins": "2",</a:t>
            </a:r>
          </a:p>
          <a:p xmlns:a="http://schemas.openxmlformats.org/drawingml/2006/main">
            <a:r>
              <a:t>    "study_count_automatic_available_bins": "2",</a:t>
            </a:r>
          </a:p>
          <a:p xmlns:a="http://schemas.openxmlformats.org/drawingml/2006/main">
            <a:r>
              <a:t>    "automatic_count_in_selected_bins": "2"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"location": "Rinehart/CST",</a:t>
            </a:r>
          </a:p>
          <a:p xmlns:a="http://schemas.openxmlformats.org/drawingml/2006/main">
            <a:r>
              <a:t>    "positive_or_missing_bins": "3",</a:t>
            </a:r>
          </a:p>
          <a:p xmlns:a="http://schemas.openxmlformats.org/drawingml/2006/main">
            <a:r>
              <a:t>    "bins_with_json": "1",</a:t>
            </a:r>
          </a:p>
          <a:p xmlns:a="http://schemas.openxmlformats.org/drawingml/2006/main">
            <a:r>
              <a:t>    "study_cyclists_in_selected_bins": "3",</a:t>
            </a:r>
          </a:p>
          <a:p xmlns:a="http://schemas.openxmlformats.org/drawingml/2006/main">
            <a:r>
              <a:t>    "manual_annotated_encounters": "1",</a:t>
            </a:r>
          </a:p>
          <a:p xmlns:a="http://schemas.openxmlformats.org/drawingml/2006/main">
            <a:r>
              <a:t>    "study_minus_annotated": "2",</a:t>
            </a:r>
          </a:p>
          <a:p xmlns:a="http://schemas.openxmlformats.org/drawingml/2006/main">
            <a:r>
              <a:t>    "manual_speed_sample": "1",</a:t>
            </a:r>
          </a:p>
          <a:p xmlns:a="http://schemas.openxmlformats.org/drawingml/2006/main">
            <a:r>
              <a:t>    "manual_mean_mph": "12.008247592708285",</a:t>
            </a:r>
          </a:p>
          <a:p xmlns:a="http://schemas.openxmlformats.org/drawingml/2006/main">
            <a:r>
              <a:t>    "study_speed_reference_sample": "25",</a:t>
            </a:r>
          </a:p>
          <a:p xmlns:a="http://schemas.openxmlformats.org/drawingml/2006/main">
            <a:r>
              <a:t>    "study_speed_mean_mph": "12.923291355867786",</a:t>
            </a:r>
          </a:p>
          <a:p xmlns:a="http://schemas.openxmlformats.org/drawingml/2006/main">
            <a:r>
              <a:t>    "difference_mph": "-0.9150437631595008",</a:t>
            </a:r>
          </a:p>
          <a:p xmlns:a="http://schemas.openxmlformats.org/drawingml/2006/main">
            <a:r>
              <a:t>    "status": "UNMATCHED_GROUP_COMPARISON_NOT_SPEED_ACCURACY",</a:t>
            </a:r>
          </a:p>
          <a:p xmlns:a="http://schemas.openxmlformats.org/drawingml/2006/main">
            <a:r>
              <a:t>    "automatic_speed_sample": "0",</a:t>
            </a:r>
          </a:p>
          <a:p xmlns:a="http://schemas.openxmlformats.org/drawingml/2006/main">
            <a:r>
              <a:t>    "automatic_mean_mph": "",</a:t>
            </a:r>
          </a:p>
          <a:p xmlns:a="http://schemas.openxmlformats.org/drawingml/2006/main">
            <a:r>
              <a:t>    "automatic_minutes": "59.99332648148148",</a:t>
            </a:r>
          </a:p>
          <a:p xmlns:a="http://schemas.openxmlformats.org/drawingml/2006/main">
            <a:r>
              <a:t>    "automatic_state": "TARGET_NOT_REACHED_WITHIN_LIMIT",</a:t>
            </a:r>
          </a:p>
          <a:p xmlns:a="http://schemas.openxmlformats.org/drawingml/2006/main">
            <a:r>
              <a:t>    "automatic_found_candidates": "3",</a:t>
            </a:r>
          </a:p>
          <a:p xmlns:a="http://schemas.openxmlformats.org/drawingml/2006/main">
            <a:r>
              <a:t>    "automatic_counted_candidates": "0",</a:t>
            </a:r>
          </a:p>
          <a:p xmlns:a="http://schemas.openxmlformats.org/drawingml/2006/main">
            <a:r>
              <a:t>    "automatic_count_matched_bins": "3",</a:t>
            </a:r>
          </a:p>
          <a:p xmlns:a="http://schemas.openxmlformats.org/drawingml/2006/main">
            <a:r>
              <a:t>    "automatic_count_available_bins": "0",</a:t>
            </a:r>
          </a:p>
          <a:p xmlns:a="http://schemas.openxmlformats.org/drawingml/2006/main">
            <a:r>
              <a:t>    "study_count_automatic_available_bins": "3",</a:t>
            </a:r>
          </a:p>
          <a:p xmlns:a="http://schemas.openxmlformats.org/drawingml/2006/main">
            <a:r>
              <a:t>    "automatic_count_in_selected_bins": "0"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"location": "University",</a:t>
            </a:r>
          </a:p>
          <a:p xmlns:a="http://schemas.openxmlformats.org/drawingml/2006/main">
            <a:r>
              <a:t>    "positive_or_missing_bins": "2",</a:t>
            </a:r>
          </a:p>
          <a:p xmlns:a="http://schemas.openxmlformats.org/drawingml/2006/main">
            <a:r>
              <a:t>    "bins_with_json": "1",</a:t>
            </a:r>
          </a:p>
          <a:p xmlns:a="http://schemas.openxmlformats.org/drawingml/2006/main">
            <a:r>
              <a:t>    "study_cyclists_in_selected_bins": "5",</a:t>
            </a:r>
          </a:p>
          <a:p xmlns:a="http://schemas.openxmlformats.org/drawingml/2006/main">
            <a:r>
              <a:t>    "manual_annotated_encounters": "4",</a:t>
            </a:r>
          </a:p>
          <a:p xmlns:a="http://schemas.openxmlformats.org/drawingml/2006/main">
            <a:r>
              <a:t>    "study_minus_annotated": "1",</a:t>
            </a:r>
          </a:p>
          <a:p xmlns:a="http://schemas.openxmlformats.org/drawingml/2006/main">
            <a:r>
              <a:t>    "manual_speed_sample": "4",</a:t>
            </a:r>
          </a:p>
          <a:p xmlns:a="http://schemas.openxmlformats.org/drawingml/2006/main">
            <a:r>
              <a:t>    "manual_mean_mph": "16.98475744264695",</a:t>
            </a:r>
          </a:p>
          <a:p xmlns:a="http://schemas.openxmlformats.org/drawingml/2006/main">
            <a:r>
              <a:t>    "study_speed_reference_sample": "78",</a:t>
            </a:r>
          </a:p>
          <a:p xmlns:a="http://schemas.openxmlformats.org/drawingml/2006/main">
            <a:r>
              <a:t>    "study_speed_mean_mph": "9.491434638473702",</a:t>
            </a:r>
          </a:p>
          <a:p xmlns:a="http://schemas.openxmlformats.org/drawingml/2006/main">
            <a:r>
              <a:t>    "difference_mph": "7.493322804173246",</a:t>
            </a:r>
          </a:p>
          <a:p xmlns:a="http://schemas.openxmlformats.org/drawingml/2006/main">
            <a:r>
              <a:t>    "status": "UNMATCHED_GROUP_COMPARISON_NOT_SPEED_ACCURACY",</a:t>
            </a:r>
          </a:p>
          <a:p xmlns:a="http://schemas.openxmlformats.org/drawingml/2006/main">
            <a:r>
              <a:t>    "automatic_speed_sample": "3",</a:t>
            </a:r>
          </a:p>
          <a:p xmlns:a="http://schemas.openxmlformats.org/drawingml/2006/main">
            <a:r>
              <a:t>    "automatic_mean_mph": "11.167333333333334",</a:t>
            </a:r>
          </a:p>
          <a:p xmlns:a="http://schemas.openxmlformats.org/drawingml/2006/main">
            <a:r>
              <a:t>    "automatic_minutes": "59.974418703703705",</a:t>
            </a:r>
          </a:p>
          <a:p xmlns:a="http://schemas.openxmlformats.org/drawingml/2006/main">
            <a:r>
              <a:t>    "automatic_state": "TARGET_NOT_REACHED_WITHIN_LIMIT",</a:t>
            </a:r>
          </a:p>
          <a:p xmlns:a="http://schemas.openxmlformats.org/drawingml/2006/main">
            <a:r>
              <a:t>    "automatic_found_candidates": "11",</a:t>
            </a:r>
          </a:p>
          <a:p xmlns:a="http://schemas.openxmlformats.org/drawingml/2006/main">
            <a:r>
              <a:t>    "automatic_counted_candidates": "3",</a:t>
            </a:r>
          </a:p>
          <a:p xmlns:a="http://schemas.openxmlformats.org/drawingml/2006/main">
            <a:r>
              <a:t>    "automatic_count_matched_bins": "1",</a:t>
            </a:r>
          </a:p>
          <a:p xmlns:a="http://schemas.openxmlformats.org/drawingml/2006/main">
            <a:r>
              <a:t>    "automatic_count_available_bins": "1",</a:t>
            </a:r>
          </a:p>
          <a:p xmlns:a="http://schemas.openxmlformats.org/drawingml/2006/main">
            <a:r>
              <a:t>    "study_count_automatic_available_bins": "1",</a:t>
            </a:r>
          </a:p>
          <a:p xmlns:a="http://schemas.openxmlformats.org/drawingml/2006/main">
            <a:r>
              <a:t>    "automatic_count_in_selected_bins": ""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"location": "West Orange/Park",</a:t>
            </a:r>
          </a:p>
          <a:p xmlns:a="http://schemas.openxmlformats.org/drawingml/2006/main">
            <a:r>
              <a:t>    "positive_or_missing_bins": "3",</a:t>
            </a:r>
          </a:p>
          <a:p xmlns:a="http://schemas.openxmlformats.org/drawingml/2006/main">
            <a:r>
              <a:t>    "bins_with_json": "0",</a:t>
            </a:r>
          </a:p>
          <a:p xmlns:a="http://schemas.openxmlformats.org/drawingml/2006/main">
            <a:r>
              <a:t>    "study_cyclists_in_selected_bins": "5",</a:t>
            </a:r>
          </a:p>
          <a:p xmlns:a="http://schemas.openxmlformats.org/drawingml/2006/main">
            <a:r>
              <a:t>    "manual_annotated_encounters": "0",</a:t>
            </a:r>
          </a:p>
          <a:p xmlns:a="http://schemas.openxmlformats.org/drawingml/2006/main">
            <a:r>
              <a:t>    "study_minus_annotated": "5",</a:t>
            </a:r>
          </a:p>
          <a:p xmlns:a="http://schemas.openxmlformats.org/drawingml/2006/main">
            <a:r>
              <a:t>    "manual_speed_sample": "0",</a:t>
            </a:r>
          </a:p>
          <a:p xmlns:a="http://schemas.openxmlformats.org/drawingml/2006/main">
            <a:r>
              <a:t>    "manual_mean_mph": "",</a:t>
            </a:r>
          </a:p>
          <a:p xmlns:a="http://schemas.openxmlformats.org/drawingml/2006/main">
            <a:r>
              <a:t>    "study_speed_reference_sample": "25",</a:t>
            </a:r>
          </a:p>
          <a:p xmlns:a="http://schemas.openxmlformats.org/drawingml/2006/main">
            <a:r>
              <a:t>    "study_speed_mean_mph": "10.766233588325383",</a:t>
            </a:r>
          </a:p>
          <a:p xmlns:a="http://schemas.openxmlformats.org/drawingml/2006/main">
            <a:r>
              <a:t>    "difference_mph": "",</a:t>
            </a:r>
          </a:p>
          <a:p xmlns:a="http://schemas.openxmlformats.org/drawingml/2006/main">
            <a:r>
              <a:t>    "status": "UNMATCHED_GROUP_COMPARISON_NOT_SPEED_ACCURACY",</a:t>
            </a:r>
          </a:p>
          <a:p xmlns:a="http://schemas.openxmlformats.org/drawingml/2006/main">
            <a:r>
              <a:t>    "automatic_speed_sample": "1",</a:t>
            </a:r>
          </a:p>
          <a:p xmlns:a="http://schemas.openxmlformats.org/drawingml/2006/main">
            <a:r>
              <a:t>    "automatic_mean_mph": "11.59",</a:t>
            </a:r>
          </a:p>
          <a:p xmlns:a="http://schemas.openxmlformats.org/drawingml/2006/main">
            <a:r>
              <a:t>    "automatic_minutes": "59.99277037037037",</a:t>
            </a:r>
          </a:p>
          <a:p xmlns:a="http://schemas.openxmlformats.org/drawingml/2006/main">
            <a:r>
              <a:t>    "automatic_state": "TARGET_NOT_REACHED_WITHIN_LIMIT",</a:t>
            </a:r>
          </a:p>
          <a:p xmlns:a="http://schemas.openxmlformats.org/drawingml/2006/main">
            <a:r>
              <a:t>    "automatic_found_candidates": "11",</a:t>
            </a:r>
          </a:p>
          <a:p xmlns:a="http://schemas.openxmlformats.org/drawingml/2006/main">
            <a:r>
              <a:t>    "automatic_counted_candidates": "1",</a:t>
            </a:r>
          </a:p>
          <a:p xmlns:a="http://schemas.openxmlformats.org/drawingml/2006/main">
            <a:r>
              <a:t>    "automatic_count_matched_bins": "3",</a:t>
            </a:r>
          </a:p>
          <a:p xmlns:a="http://schemas.openxmlformats.org/drawingml/2006/main">
            <a:r>
              <a:t>    "automatic_count_available_bins": "1",</a:t>
            </a:r>
          </a:p>
          <a:p xmlns:a="http://schemas.openxmlformats.org/drawingml/2006/main">
            <a:r>
              <a:t>    "study_count_automatic_available_bins": "5",</a:t>
            </a:r>
          </a:p>
          <a:p xmlns:a="http://schemas.openxmlformats.org/drawingml/2006/main">
            <a:r>
              <a:t>    "automatic_count_in_selected_bins": "1"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Source: manual/analysis/site_summary.csv; available duration reference manual/analysis/recording_durations.csv. HiPerGator baseline daytime minimum3seconds; shortday1.5experiment not included. Values are unmatched group comparisons using shared calibration. Count study sample differs from speed-study sample. Exact per-cyclist times in manual/analysis/encounters.csv. Automatic same-bin count ratios: Aloma0/2in2of3selectedcompletebins(lastpartial);Carroll0/2;Colonial3/3;Columbia6/3in2of4bins;Edgewater2/5in3of4;Lee2/10;PleasantHill2/2;Rinehart0/3;University1/1in1of2;WestOrange1/5. These count ratios do not establish precision/recall without identity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owner-pasted Aloma recovery pipeline logs in sofar.md; saved audit manual/analysis/aloma_duration_audit_20261026.csv. Four of five candidates had100%detectorbicycle fraction andweightedXCLIP.98–1.00 but that is not independently confirmedidentity/precision. Opticalflow source manual/optical_flow_20261026/results:2accepted,27drift/coveragefail,1too short.20pixelholdout threshold isengineeringguardnotvalidatedaccuracy; firstclickonlyseeds, laterclicksnotusedtosteer. Endpoint method implemented, same learnedscale noindependentdistance. Next run command in docs/SHORT_TRACK_SPEED_RUN.md; no completion or performance claim for1.5sec variant. Original artifacts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14835472af4ea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49c1fc771f470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IKE_PLAI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BB1F7BF-34BD-4BF4-840C-CED4B943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1064240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b05ebe24b14fb8" /><Relationship Type="http://schemas.openxmlformats.org/officeDocument/2006/relationships/slideLayout" Target="/ppt/slideLayouts/slideLayout1.xml" Id="R3d6f747cc1434d2a" /><Relationship Type="http://schemas.openxmlformats.org/officeDocument/2006/relationships/slideLayout" Target="/ppt/slideLayouts/slideLayout2.xml" Id="Rcde91c821cdd464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6f747cc1434d2a"/>
    <p:sldLayoutId xmlns:r="http://schemas.openxmlformats.org/officeDocument/2006/relationships" id="2147483650" r:id="Rcde91c821cdd4646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eekly Update">
  <a:themeElements>
    <a:clrScheme name="Weekly Update">
      <a:dk1>
        <a:srgbClr val="000000"/>
      </a:dk1>
      <a:lt1>
        <a:srgbClr val="FFFFFF"/>
      </a:lt1>
      <a:dk2>
        <a:srgbClr val="333333"/>
      </a:dk2>
      <a:lt2>
        <a:srgbClr val="EDEDED"/>
      </a:lt2>
      <a:accent1>
        <a:srgbClr val="FFFF00"/>
      </a:accent1>
      <a:accent2>
        <a:srgbClr val="2E7D32"/>
      </a:accent2>
      <a:accent3>
        <a:srgbClr val="E65100"/>
      </a:accent3>
      <a:accent4>
        <a:srgbClr val="C62828"/>
      </a:accent4>
      <a:accent5>
        <a:srgbClr val="1565C0"/>
      </a:accent5>
      <a:accent6>
        <a:srgbClr val="666666"/>
      </a:accent6>
      <a:hlink>
        <a:srgbClr val="1565C0"/>
      </a:hlink>
      <a:folHlink>
        <a:srgbClr val="666666"/>
      </a:folHlink>
    </a:clrScheme>
    <a:fontScheme name="Weekly Updat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Weekly Upda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9f0d265e6d4442" /><Relationship Type="http://schemas.openxmlformats.org/officeDocument/2006/relationships/notesSlide" Target="/ppt/notesSlides/notesSlide1.xml" Id="R905f08509f0d4b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c8dc8c545f4f5d" /><Relationship Type="http://schemas.openxmlformats.org/officeDocument/2006/relationships/notesSlide" Target="/ppt/notesSlides/notesSlide2.xml" Id="Raeebcea0772a45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f0e875ceb04cee" /><Relationship Type="http://schemas.openxmlformats.org/officeDocument/2006/relationships/notesSlide" Target="/ppt/notesSlides/notesSlide3.xml" Id="R892157adb4ed41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3af183f4264724" /><Relationship Type="http://schemas.openxmlformats.org/officeDocument/2006/relationships/notesSlide" Target="/ppt/notesSlides/notesSlide4.xml" Id="R2a3506a9374140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1ffee7a1c3442d" /><Relationship Type="http://schemas.openxmlformats.org/officeDocument/2006/relationships/notesSlide" Target="/ppt/notesSlides/notesSlide5.xml" Id="R85b1a1860ac8434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1DEA861F-7B57-4219-8476-54B24F1B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77240"/>
            <a:ext cx="6583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Weekly speed update | October 26, 2026</a:t>
            </a:r>
          </a:p>
        </p:txBody>
      </p:sp>
      <p:graphicFrame>
        <p:nvGraphicFramePr>
          <p:cNvPr id="9" name="Table 0"/>
          <p:cNvGraphicFramePr/>
          <p:nvPr/>
        </p:nvGraphicFramePr>
        <p:xfrm>
          <a:off xmlns:a="http://schemas.openxmlformats.org/drawingml/2006/main" x="612648" y="1280160"/>
          <a:ext xmlns:a="http://schemas.openxmlformats.org/drawingml/2006/main" cx="11064240" cy="39319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51760"/>
                <a:gridCol w="4663440"/>
                <a:gridCol w="374904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This week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Completed work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What the result means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Study references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Count tables + consolidated cyclist speeds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Different count and speed samples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Video pilot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13 cameras; up to one source hour each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First available day, hour nearest noon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Manual review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30 cyclist encounters; 29 speed estimates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Your clicks bypass detection gaps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Camera calibration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Estimated conversion: pixels → metres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Shared scale; not independently validated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New comparisons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First/last points + optical flow tested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Flow passed pixel checks for 2 of 30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Counting diagnosis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Aloma: 5 candidate tracks, 0 accepted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All tracks shorter than 3 seconds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95CC997-7307-B106-3AD8-6C4BB560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756" y="5349240"/>
            <a:ext cx="7017572" cy="11013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HiPerGator versus Manual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HiPerGator: automatic boxes, tracking and counting filters.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Manual: your repeated rear-tire contact-point clicks.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Both estimate mph using the same camera calibration.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85A3CC2-D8DC-4DA0-8E51-FB7CF016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328" y="5349240"/>
            <a:ext cx="4995672" cy="14960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77800" indent="-177800">
              <a:spcBef>
                <a:spcPts val="1000"/>
              </a:spcBef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Status this week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Aloma node-failure recovery finished.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Reused annotation IDs separated by encounter.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1.5-second daytime experiment prepared; results pending.</a:t>
            </a:r>
          </a:p>
        </p:txBody>
      </p:sp>
    </p:spTree>
    <p:extLst>
      <p:ext uri="{BB962C8B-B14F-4D97-AF65-F5344CB8AC3E}">
        <p14:creationId xmlns:p14="http://schemas.microsoft.com/office/powerpoint/2010/main" val="12293515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EE7CB970-59CD-4FF4-962C-A30711EE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31520"/>
            <a:ext cx="603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How the speed estimates were calculated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E689B36-506C-1315-D39A-22AB8FBE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383642"/>
            <a:ext cx="10984620" cy="504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buChar char="•"/>
              <a:defRPr sz="1600"/>
            </a:pPr>
            <a:r>
              <a:rPr sz="16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1. You marked the rear tire’s ground-contact point at several video times.</a:t>
            </a:r>
          </a:p>
          <a:p xmlns:a="http://schemas.openxmlformats.org/drawingml/2006/main">
            <a:pPr marL="285750" indent="-285750">
              <a:buChar char="•"/>
              <a:defRPr sz="1600"/>
            </a:pPr>
            <a:r>
              <a:rPr sz="1600"/>
              <a:t>Those positions form a trajectory: the cyclist’s path through the image.</a:t>
            </a:r>
          </a:p>
          <a:p xmlns:a="http://schemas.openxmlformats.org/drawingml/2006/main">
            <a:pPr marL="285750" indent="-285750">
              <a:buChar char="•"/>
              <a:defRPr sz="1600"/>
            </a:pPr>
            <a:r>
              <a:rPr sz="1600"/>
              <a:t>2. Saved camera calibration converts image positions into estimated metres.</a:t>
            </a:r>
          </a:p>
          <a:p xmlns:a="http://schemas.openxmlformats.org/drawingml/2006/main">
            <a:pPr marL="285750" indent="-285750">
              <a:buChar char="•"/>
              <a:defRPr sz="1600"/>
            </a:pPr>
            <a:r>
              <a:rPr sz="1600"/>
              <a:t>It was learned from car observations at the same camera; road/path scale remains uncertain.</a:t>
            </a:r>
          </a:p>
          <a:p xmlns:a="http://schemas.openxmlformats.org/drawingml/2006/main">
            <a:pPr marL="285750" indent="-285750">
              <a:buChar char="•"/>
              <a:defRPr sz="1600"/>
            </a:pPr>
            <a:r>
              <a:rPr sz="1600"/>
              <a:t>3. Manual mph = summed path distance ÷ elapsed video seconds × 2.23694.</a:t>
            </a:r>
          </a:p>
          <a:p xmlns:a="http://schemas.openxmlformats.org/drawingml/2006/main">
            <a:pPr marL="285750" indent="-285750">
              <a:buChar char="•"/>
              <a:defRPr sz="1600"/>
            </a:pPr>
            <a:r>
              <a:rPr sz="1600"/>
              <a:t>Example: 10 metres in 2 seconds = 11.18 mph. At least 3 clicks spanning 1.5 s are used.</a:t>
            </a:r>
          </a:p>
          <a:p xmlns:a="http://schemas.openxmlformats.org/drawingml/2006/main">
            <a:pPr marL="285750" indent="-285750">
              <a:buChar char="•"/>
              <a:defRPr sz="1600"/>
            </a:pPr>
            <a:r>
              <a:rPr sz="1600"/>
              <a:t>HiPerGator instead combines local tracked-motion speeds using a median.</a:t>
            </a:r>
          </a:p>
          <a:p xmlns:a="http://schemas.openxmlformats.org/drawingml/2006/main">
            <a:pPr marL="285750" indent="-285750">
              <a:buChar char="•"/>
              <a:defRPr sz="1600"/>
            </a:pPr>
            <a:r>
              <a:rPr sz="1600"/>
              <a:t>Validation: Mighk timed cyclists from half-speed video and corrected the calculation.</a:t>
            </a:r>
          </a:p>
          <a:p xmlns:a="http://schemas.openxmlformats.org/drawingml/2006/main">
            <a:pPr marL="285750" indent="-285750">
              <a:buChar char="•"/>
              <a:defRPr sz="1600"/>
            </a:pPr>
            <a:r>
              <a:rPr sz="1600"/>
              <a:t>Aloma: 191 path cyclists in the full 48-hour count period; 4 in our 45-minute selection.</a:t>
            </a:r>
          </a:p>
          <a:p xmlns:a="http://schemas.openxmlformats.org/drawingml/2006/main">
            <a:pPr marL="285750" indent="-285750">
              <a:buChar char="•"/>
              <a:defRPr sz="1600"/>
            </a:pPr>
            <a:r>
              <a:rPr sz="1600"/>
              <a:t>The 26 Aloma speed records are a separate sample with no linked encounter timestamps.</a:t>
            </a:r>
          </a:p>
          <a:p xmlns:a="http://schemas.openxmlformats.org/drawingml/2006/main">
            <a:pPr marL="285750" indent="-285750">
              <a:buChar char="•"/>
              <a:defRPr sz="1600"/>
            </a:pPr>
            <a:r>
              <a:rPr sz="1600"/>
              <a:t>Research: Revaud &amp; Humenberger, ICCV 2021 (learned calibration); our clicks are an adaptation.</a:t>
            </a:r>
          </a:p>
        </p:txBody>
      </p:sp>
    </p:spTree>
    <p:extLst>
      <p:ext uri="{BB962C8B-B14F-4D97-AF65-F5344CB8AC3E}">
        <p14:creationId xmlns:p14="http://schemas.microsoft.com/office/powerpoint/2010/main" val="5462650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5C9A9E26-F40A-4979-88CD-3FFCAFDE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77240"/>
            <a:ext cx="6949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This week’s results | Aloma to Edgewater</a:t>
            </a:r>
          </a:p>
        </p:txBody>
      </p:sp>
      <p:graphicFrame>
        <p:nvGraphicFramePr>
          <p:cNvPr id="8" name="Table 0"/>
          <p:cNvGraphicFramePr/>
          <p:nvPr/>
        </p:nvGraphicFramePr>
        <p:xfrm>
          <a:off xmlns:a="http://schemas.openxmlformats.org/drawingml/2006/main" x="612648" y="1280160"/>
          <a:ext xmlns:a="http://schemas.openxmlformats.org/drawingml/2006/main" cx="10972800" cy="25603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66160"/>
                <a:gridCol w="1554480"/>
                <a:gridCol w="1463040"/>
                <a:gridCol w="2194560"/>
                <a:gridCol w="2194560"/>
              </a:tblGrid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Location</a:t>
                      </a:r>
                    </a:p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Review / auto min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Study / manual</a:t>
                      </a:r>
                    </a:p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cyclist count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Validation mph</a:t>
                      </a:r>
                    </a:p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(speed sample)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HiPerGator mph</a:t>
                      </a:r>
                    </a:p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(speed sample)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Manual mph</a:t>
                      </a:r>
                    </a:p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(speed sample)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Aloma</a:t>
                      </a:r>
                    </a:p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45 / 60 min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4 / 4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13.58 (26)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Filtered</a:t>
                      </a:r>
                    </a:p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(0 usable speeds)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19.81 (4)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Carroll</a:t>
                      </a:r>
                    </a:p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15 / 60 min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2 / 2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11.89 (15)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Filtered</a:t>
                      </a:r>
                    </a:p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(0 usable speeds)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12.37 (2)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Colonial</a:t>
                      </a:r>
                    </a:p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30 / 60 min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3 / 3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9.54 (23)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7.63 (3)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10.71 (3)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Columbia</a:t>
                      </a:r>
                    </a:p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60 / 30 min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6 / 4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12.24 (9)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3.04 (3)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12.47 (4)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Edgewater</a:t>
                      </a:r>
                    </a:p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60 / 60 min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10 / 6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12.02 (50)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17.57 (2)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14.00 (5)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4FCE794-1DA6-41AC-B529-835C9304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2197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Counts cover the selected study intervals; missing manual encounters are not proven detector misses.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latin typeface="Arial"/>
                <a:ea typeface="Arial"/>
                <a:cs typeface="Arial"/>
              </a:rPr>
              <a:t>Numbers after mph are sample sizes. Speed groups and time coverage differ: this is not per-person accuracy.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 b="1"/>
              <a:t>~48 h available per camera here except Colonial 47.99 h measured, Pleasant Hill ~31 h, West Orange ~37 h; Columbia total unverified.</a:t>
            </a:r>
          </a:p>
        </p:txBody>
      </p:sp>
    </p:spTree>
    <p:extLst>
      <p:ext uri="{BB962C8B-B14F-4D97-AF65-F5344CB8AC3E}">
        <p14:creationId xmlns:p14="http://schemas.microsoft.com/office/powerpoint/2010/main" val="7663013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5C9A9E26-F40A-4979-88CD-3FFCAFDE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77240"/>
            <a:ext cx="6949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This week’s results | Lee to West Orange</a:t>
            </a:r>
          </a:p>
        </p:txBody>
      </p:sp>
      <p:graphicFrame>
        <p:nvGraphicFramePr>
          <p:cNvPr id="8" name="Table 0"/>
          <p:cNvGraphicFramePr/>
          <p:nvPr/>
        </p:nvGraphicFramePr>
        <p:xfrm>
          <a:off xmlns:a="http://schemas.openxmlformats.org/drawingml/2006/main" x="612648" y="1280160"/>
          <a:ext xmlns:a="http://schemas.openxmlformats.org/drawingml/2006/main" cx="10972800" cy="25603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66160"/>
                <a:gridCol w="1554480"/>
                <a:gridCol w="1463040"/>
                <a:gridCol w="2194560"/>
                <a:gridCol w="2194560"/>
              </a:tblGrid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Location</a:t>
                      </a:r>
                    </a:p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Review / auto min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Study / manual</a:t>
                      </a:r>
                    </a:p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cyclist count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Validation mph</a:t>
                      </a:r>
                    </a:p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(speed sample)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HiPerGator mph</a:t>
                      </a:r>
                    </a:p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(speed sample)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Manual mph</a:t>
                      </a:r>
                    </a:p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(speed sample)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Lee</a:t>
                      </a:r>
                    </a:p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60 / 60 min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10 / 4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8.73 (2)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9.88 (2)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12.36 (4)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Pleasant Hill</a:t>
                      </a:r>
                    </a:p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15 / 60 min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2 / 2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9.86 (41)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8.99 (2)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8.99 (2)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Rinehart/CST</a:t>
                      </a:r>
                    </a:p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45 / 60 min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3 / 1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12.92 (25)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Filtered</a:t>
                      </a:r>
                    </a:p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(0 usable speeds)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12.01 (1)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University</a:t>
                      </a:r>
                    </a:p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30 / 60 min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 / 4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9.49 (78)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11.17 (3)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16.98 (4)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West Orange/Park</a:t>
                      </a:r>
                    </a:p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45 / 60 min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 / 0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10.77 (25)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11.59 (1)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Not located</a:t>
                      </a:r>
                    </a:p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(no manual speed)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4FCE794-1DA6-41AC-B529-835C9304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2197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Counts cover the selected study intervals; missing manual encounters are not proven detector misses.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latin typeface="Arial"/>
                <a:ea typeface="Arial"/>
                <a:cs typeface="Arial"/>
              </a:rPr>
              <a:t>Numbers after mph are sample sizes. Speed groups and time coverage differ: this is not per-person accuracy.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 b="1"/>
              <a:t>~48 h available per camera here except Colonial 47.99 h measured, Pleasant Hill ~31 h, West Orange ~37 h; Columbia total unverified.</a:t>
            </a:r>
          </a:p>
        </p:txBody>
      </p:sp>
    </p:spTree>
    <p:extLst>
      <p:ext uri="{BB962C8B-B14F-4D97-AF65-F5344CB8AC3E}">
        <p14:creationId xmlns:p14="http://schemas.microsoft.com/office/powerpoint/2010/main" val="7663013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EE7CB970-59CD-4FF4-962C-A30711EE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31520"/>
            <a:ext cx="603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What we learned and what changes next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E689B36-506C-1315-D39A-22AB8FBE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383642"/>
            <a:ext cx="10984620" cy="504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buChar char="•"/>
              <a:defRPr sz="1600"/>
            </a:pPr>
            <a:r>
              <a:rPr sz="16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Manual review recovered usable movement where automatic counting failed.</a:t>
            </a:r>
          </a:p>
          <a:p xmlns:a="http://schemas.openxmlformats.org/drawingml/2006/main">
            <a:pPr marL="285750" indent="-285750">
              <a:buChar char="•"/>
              <a:defRPr sz="1600"/>
            </a:pPr>
            <a:r>
              <a:rPr sz="1600"/>
              <a:t>Carroll: study 2, manual 2, automatic counted 0. Short tracks are a clear obstacle.</a:t>
            </a:r>
          </a:p>
          <a:p xmlns:a="http://schemas.openxmlformats.org/drawingml/2006/main">
            <a:pPr marL="285750" indent="-285750">
              <a:buChar char="•"/>
              <a:defRPr sz="1600"/>
            </a:pPr>
            <a:r>
              <a:rPr sz="1600"/>
              <a:t>Aloma recovery completed ~60 minutes, but all 5 bicycle-labelled tracks were filtered.</a:t>
            </a:r>
          </a:p>
          <a:p xmlns:a="http://schemas.openxmlformats.org/drawingml/2006/main">
            <a:pPr marL="285750" indent="-285750">
              <a:buChar char="•"/>
              <a:defRPr sz="1600"/>
            </a:pPr>
            <a:r>
              <a:rPr sz="1600"/>
              <a:t>Their tracked durations were 2.9, 1.6, 2.0, 2.7 and 1.7 seconds—all below 3 seconds.</a:t>
            </a:r>
          </a:p>
          <a:p xmlns:a="http://schemas.openxmlformats.org/drawingml/2006/main">
            <a:pPr marL="285750" indent="-285750">
              <a:buChar char="•"/>
              <a:defRPr sz="1600"/>
            </a:pPr>
            <a:r>
              <a:rPr sz="1600"/>
              <a:t>Five candidates versus four study/manual cyclists also means false or duplicate counts need review.</a:t>
            </a:r>
          </a:p>
          <a:p xmlns:a="http://schemas.openxmlformats.org/drawingml/2006/main">
            <a:pPr marL="285750" indent="-285750">
              <a:buChar char="•"/>
              <a:defRPr sz="1600"/>
            </a:pPr>
            <a:r>
              <a:rPr sz="1600"/>
              <a:t>Optical-flow test: only 2 of 30 encounters passed pixel checks and yielded speed.</a:t>
            </a:r>
          </a:p>
          <a:p xmlns:a="http://schemas.openxmlformats.org/drawingml/2006/main">
            <a:pPr marL="285750" indent="-285750">
              <a:buChar char="•"/>
              <a:defRPr sz="1600"/>
            </a:pPr>
            <a:r>
              <a:rPr sz="1600"/>
              <a:t>Both were Pleasant Hill: mean 9.57 mph versus manual 8.99 and study 9.86 mph.</a:t>
            </a:r>
          </a:p>
          <a:p xmlns:a="http://schemas.openxmlformats.org/drawingml/2006/main">
            <a:pPr marL="285750" indent="-285750">
              <a:buChar char="•"/>
              <a:defRPr sz="1600"/>
            </a:pPr>
            <a:r>
              <a:rPr sz="1600"/>
              <a:t>The simple flow tracker drifted or lost coverage elsewhere; keep manual results as the fallback.</a:t>
            </a:r>
          </a:p>
          <a:p xmlns:a="http://schemas.openxmlformats.org/drawingml/2006/main">
            <a:pPr marL="285750" indent="-285750">
              <a:buChar char="•"/>
              <a:defRPr sz="1600"/>
            </a:pPr>
            <a:r>
              <a:rPr sz="1600"/>
              <a:t>Next experiment is prepared, not completed: daytime bicycle minimum 3.0 → 1.5 seconds.</a:t>
            </a:r>
          </a:p>
          <a:p xmlns:a="http://schemas.openxmlformats.org/drawingml/2006/main">
            <a:pPr marL="285750" indent="-285750">
              <a:buChar char="•"/>
              <a:defRPr sz="1600"/>
            </a:pPr>
            <a:r>
              <a:rPr sz="1600"/>
              <a:t>Rerun all 13 sites using saved calibrations; pedestrian, nighttime and other filters stay unchanged.</a:t>
            </a:r>
          </a:p>
          <a:p xmlns:a="http://schemas.openxmlformats.org/drawingml/2006/main">
            <a:pPr marL="285750" indent="-285750">
              <a:buChar char="•"/>
              <a:defRPr sz="1600"/>
            </a:pPr>
            <a:r>
              <a:rPr sz="1600"/>
              <a:t>Check added real cyclists AND false counts. A countable track may still lack usable speed data.</a:t>
            </a:r>
          </a:p>
          <a:p xmlns:a="http://schemas.openxmlformats.org/drawingml/2006/main">
            <a:pPr marL="285750" indent="-285750">
              <a:buChar char="•"/>
              <a:defRPr sz="1600"/>
            </a:pPr>
            <a:r>
              <a:rPr sz="1600"/>
              <a:t>Main limit: separate study-speed groups cannot establish same-person mph accuracy.</a:t>
            </a:r>
          </a:p>
        </p:txBody>
      </p:sp>
    </p:spTree>
    <p:extLst>
      <p:ext uri="{BB962C8B-B14F-4D97-AF65-F5344CB8AC3E}">
        <p14:creationId xmlns:p14="http://schemas.microsoft.com/office/powerpoint/2010/main" val="546265082"/>
      </p:ext>
    </p:extLst>
  </p:cSld>
</p:sld>
</file>

<file path=ppt/theme/theme1.xml><?xml version="1.0" encoding="utf-8"?>
<a:theme xmlns:a="http://schemas.openxmlformats.org/drawingml/2006/main" name="Weekly Update">
  <a:themeElements>
    <a:clrScheme name="Weekly Update">
      <a:dk1>
        <a:srgbClr val="000000"/>
      </a:dk1>
      <a:lt1>
        <a:srgbClr val="FFFFFF"/>
      </a:lt1>
      <a:dk2>
        <a:srgbClr val="333333"/>
      </a:dk2>
      <a:lt2>
        <a:srgbClr val="EDEDED"/>
      </a:lt2>
      <a:accent1>
        <a:srgbClr val="FFFF00"/>
      </a:accent1>
      <a:accent2>
        <a:srgbClr val="2E7D32"/>
      </a:accent2>
      <a:accent3>
        <a:srgbClr val="E65100"/>
      </a:accent3>
      <a:accent4>
        <a:srgbClr val="C62828"/>
      </a:accent4>
      <a:accent5>
        <a:srgbClr val="1565C0"/>
      </a:accent5>
      <a:accent6>
        <a:srgbClr val="666666"/>
      </a:accent6>
      <a:hlink>
        <a:srgbClr val="1565C0"/>
      </a:hlink>
      <a:folHlink>
        <a:srgbClr val="666666"/>
      </a:folHlink>
    </a:clrScheme>
    <a:fontScheme name="Weekly Updat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Weekly Upda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2026-10-27T02:25:15.0360000Z</dcterms:created>
  <dcterms:modified xsi:type="dcterms:W3CDTF">2026-10-27T02:25:15.0360000Z</dcterms:modified>
</coreProperties>
</file>