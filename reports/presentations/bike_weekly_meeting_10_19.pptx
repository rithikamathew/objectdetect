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32f3b317f14957" /><Relationship Type="http://schemas.openxmlformats.org/officeDocument/2006/relationships/extended-properties" Target="/docProps/app.xml" Id="R526b248b6bf24aba" /><Relationship Type="http://schemas.openxmlformats.org/officeDocument/2006/relationships/officeDocument" Target="/ppt/presentation.xml" Id="Raa397c374c1a4f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e728b98f1949c5"/>
  </p:sldMasterIdLst>
  <p:notesMasterIdLst>
    <p:notesMasterId xmlns:r="http://schemas.openxmlformats.org/officeDocument/2006/relationships" r:id="Rf6e72eaeb6c6455b"/>
  </p:notesMasterIdLst>
  <p:sldIdLst>
    <p:sldId xmlns:r="http://schemas.openxmlformats.org/officeDocument/2006/relationships" id="256" r:id="R1dcf79d09bc2400b"/>
    <p:sldId xmlns:r="http://schemas.openxmlformats.org/officeDocument/2006/relationships" id="257" r:id="R5f6e67640b7647ac"/>
    <p:sldId xmlns:r="http://schemas.openxmlformats.org/officeDocument/2006/relationships" id="258" r:id="R7936f77f5596462d"/>
    <p:sldId xmlns:r="http://schemas.openxmlformats.org/officeDocument/2006/relationships" id="259" r:id="Rb19a26c513034c4b"/>
    <p:sldId xmlns:r="http://schemas.openxmlformats.org/officeDocument/2006/relationships" id="260" r:id="R12cb1addece74509"/>
    <p:sldId xmlns:r="http://schemas.openxmlformats.org/officeDocument/2006/relationships" id="261" r:id="R709fbb6789f7459a"/>
    <p:sldId xmlns:r="http://schemas.openxmlformats.org/officeDocument/2006/relationships" id="262" r:id="R04e125405fe44def"/>
    <p:sldId xmlns:r="http://schemas.openxmlformats.org/officeDocument/2006/relationships" id="263" r:id="Rde19fc967f744b7e"/>
    <p:sldId xmlns:r="http://schemas.openxmlformats.org/officeDocument/2006/relationships" id="264" r:id="R7fcf361fed2a4bca"/>
    <p:sldId xmlns:r="http://schemas.openxmlformats.org/officeDocument/2006/relationships" id="265" r:id="Ra5602077952946c4"/>
    <p:sldId xmlns:r="http://schemas.openxmlformats.org/officeDocument/2006/relationships" id="266" r:id="R4b19b73625f94e93"/>
    <p:sldId xmlns:r="http://schemas.openxmlformats.org/officeDocument/2006/relationships" id="267" r:id="R24691954acae4f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e6ff1fe5ad41af" /><Relationship Type="http://schemas.openxmlformats.org/officeDocument/2006/relationships/slideMaster" Target="/ppt/slideMasters/slideMaster1.xml" Id="R94e728b98f1949c5" /><Relationship Type="http://schemas.openxmlformats.org/officeDocument/2006/relationships/notesMaster" Target="/ppt/notesMasters/notesMaster1.xml" Id="Rf6e72eaeb6c6455b" /><Relationship Type="http://schemas.openxmlformats.org/officeDocument/2006/relationships/presProps" Target="/ppt/presProps.xml" Id="Rb6be592768a345f1" /><Relationship Type="http://schemas.openxmlformats.org/officeDocument/2006/relationships/tableStyles" Target="/ppt/tableStyles.xml" Id="R773ac8c0bc14400a" /><Relationship Type="http://schemas.openxmlformats.org/officeDocument/2006/relationships/slide" Target="/ppt/slides/slide1.xml" Id="R1dcf79d09bc2400b" /><Relationship Type="http://schemas.openxmlformats.org/officeDocument/2006/relationships/slide" Target="/ppt/slides/slide2.xml" Id="R5f6e67640b7647ac" /><Relationship Type="http://schemas.openxmlformats.org/officeDocument/2006/relationships/slide" Target="/ppt/slides/slide3.xml" Id="R7936f77f5596462d" /><Relationship Type="http://schemas.openxmlformats.org/officeDocument/2006/relationships/slide" Target="/ppt/slides/slide4.xml" Id="Rb19a26c513034c4b" /><Relationship Type="http://schemas.openxmlformats.org/officeDocument/2006/relationships/slide" Target="/ppt/slides/slide5.xml" Id="R12cb1addece74509" /><Relationship Type="http://schemas.openxmlformats.org/officeDocument/2006/relationships/slide" Target="/ppt/slides/slide6.xml" Id="R709fbb6789f7459a" /><Relationship Type="http://schemas.openxmlformats.org/officeDocument/2006/relationships/slide" Target="/ppt/slides/slide7.xml" Id="R04e125405fe44def" /><Relationship Type="http://schemas.openxmlformats.org/officeDocument/2006/relationships/slide" Target="/ppt/slides/slide8.xml" Id="Rde19fc967f744b7e" /><Relationship Type="http://schemas.openxmlformats.org/officeDocument/2006/relationships/slide" Target="/ppt/slides/slide9.xml" Id="R7fcf361fed2a4bca" /><Relationship Type="http://schemas.openxmlformats.org/officeDocument/2006/relationships/slide" Target="/ppt/slides/slide10.xml" Id="Ra5602077952946c4" /><Relationship Type="http://schemas.openxmlformats.org/officeDocument/2006/relationships/slide" Target="/ppt/slides/slide11.xml" Id="R4b19b73625f94e93" /><Relationship Type="http://schemas.openxmlformats.org/officeDocument/2006/relationships/slide" Target="/ppt/slides/slide12.xml" Id="R24691954acae4f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d46841136e4a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eekly Update">
  <a:themeElements>
    <a:clrScheme name="Weekly Update">
      <a:dk1>
        <a:srgbClr val="000000"/>
      </a:dk1>
      <a:lt1>
        <a:srgbClr val="FFFFFF"/>
      </a:lt1>
      <a:dk2>
        <a:srgbClr val="333333"/>
      </a:dk2>
      <a:lt2>
        <a:srgbClr val="EDEDED"/>
      </a:lt2>
      <a:accent1>
        <a:srgbClr val="FFFF00"/>
      </a:accent1>
      <a:accent2>
        <a:srgbClr val="2E7D32"/>
      </a:accent2>
      <a:accent3>
        <a:srgbClr val="E65100"/>
      </a:accent3>
      <a:accent4>
        <a:srgbClr val="C62828"/>
      </a:accent4>
      <a:accent5>
        <a:srgbClr val="1565C0"/>
      </a:accent5>
      <a:accent6>
        <a:srgbClr val="666666"/>
      </a:accent6>
      <a:hlink>
        <a:srgbClr val="1565C0"/>
      </a:hlink>
      <a:folHlink>
        <a:srgbClr val="666666"/>
      </a:folHlink>
    </a:clrScheme>
    <a:fontScheme name="Weekly Upd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eekly Upda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809eac18134bad" /><Relationship Type="http://schemas.openxmlformats.org/officeDocument/2006/relationships/notesMaster" Target="/ppt/notesMasters/notesMaster1.xml" Id="R5a0cb9b977af47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8c0a2dc71946ef" /><Relationship Type="http://schemas.openxmlformats.org/officeDocument/2006/relationships/notesMaster" Target="/ppt/notesMasters/notesMaster1.xml" Id="Rfcf09561c02b4a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e0319d90dc46d3" /><Relationship Type="http://schemas.openxmlformats.org/officeDocument/2006/relationships/notesMaster" Target="/ppt/notesMasters/notesMaster1.xml" Id="R9834958a849049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991096eb204c90" /><Relationship Type="http://schemas.openxmlformats.org/officeDocument/2006/relationships/notesMaster" Target="/ppt/notesMasters/notesMaster1.xml" Id="Ra7dbcb8f16964d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960d605ec240dd" /><Relationship Type="http://schemas.openxmlformats.org/officeDocument/2006/relationships/notesMaster" Target="/ppt/notesMasters/notesMaster1.xml" Id="R4bc6a7ad97a142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2e62aa73014b76" /><Relationship Type="http://schemas.openxmlformats.org/officeDocument/2006/relationships/notesMaster" Target="/ppt/notesMasters/notesMaster1.xml" Id="R4a1f3c23794f42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6508d34ecf471d" /><Relationship Type="http://schemas.openxmlformats.org/officeDocument/2006/relationships/notesMaster" Target="/ppt/notesMasters/notesMaster1.xml" Id="Rce83f116ce484b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c6913e220f4cfd" /><Relationship Type="http://schemas.openxmlformats.org/officeDocument/2006/relationships/notesMaster" Target="/ppt/notesMasters/notesMaster1.xml" Id="Rc3fe0f9e6d6b48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18623a64a04739" /><Relationship Type="http://schemas.openxmlformats.org/officeDocument/2006/relationships/notesMaster" Target="/ppt/notesMasters/notesMaster1.xml" Id="R5186006d0e494e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429a53824045cb" /><Relationship Type="http://schemas.openxmlformats.org/officeDocument/2006/relationships/notesMaster" Target="/ppt/notesMasters/notesMaster1.xml" Id="R3415c894ceee4e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e475484f964a61" /><Relationship Type="http://schemas.openxmlformats.org/officeDocument/2006/relationships/notesMaster" Target="/ppt/notesMasters/notesMaster1.xml" Id="Rcebd8740e16a48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41cbf888b74a43" /><Relationship Type="http://schemas.openxmlformats.org/officeDocument/2006/relationships/notesMaster" Target="/ppt/notesMasters/notesMaster1.xml" Id="R813ae064bd7c4a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saved truth and person-level results for b4_combo_static5 / batch 5; current active todo scope as of 2026-10-19. No new GPU results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saved truth and person-level results for b4_combo_static5 / batch 5; current active todo scope as of 2026-10-19. No new GPU results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saved truth and person-level results for b4_combo_static5 / batch 5; current active todo scope as of 2026-10-19. No new GPU results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saved truth and person-level results for b4_combo_static5 / batch 5; current active todo scope as of 2026-10-19. No new GPU results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saved truth and person-level results for b4_combo_static5 / batch 5; current active todo scope as of 2026-10-19. No new GPU results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saved truth and person-level results for b4_combo_static5 / batch 5; current active todo scope as of 2026-10-19. No new GPU results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saved truth and person-level results for b4_combo_static5 / batch 5; current active todo scope as of 2026-10-19. No new GPU results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saved truth and person-level results for b4_combo_static5 / batch 5; current active todo scope as of 2026-10-19. No new GPU results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saved truth and person-level results for b4_combo_static5 / batch 5; current active todo scope as of 2026-10-19. No new GPU results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saved truth and person-level results for b4_combo_static5 / batch 5; current active todo scope as of 2026-10-19. No new GPU results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 checked 2026-10-19:</a:t>
            </a:r>
          </a:p>
          <a:p xmlns:a="http://schemas.openxmlformats.org/drawingml/2006/main">
            <a:r>
              <a:t>https://docs.ultralytics.com/yolov5/tutorials/test-time-augmentation/</a:t>
            </a:r>
          </a:p>
          <a:p xmlns:a="http://schemas.openxmlformats.org/drawingml/2006/main">
            <a:r>
              <a:t>https://github.com/IDEA-Research/GroundingDINO</a:t>
            </a:r>
          </a:p>
          <a:p xmlns:a="http://schemas.openxmlformats.org/drawingml/2006/main">
            <a:r>
              <a:t>https://arxiv.org/abs/1703.10025</a:t>
            </a:r>
          </a:p>
          <a:p xmlns:a="http://schemas.openxmlformats.org/drawingml/2006/main">
            <a:r>
              <a:t>https://github.com/luy02735-lang/BNE-DETR</a:t>
            </a:r>
          </a:p>
          <a:p xmlns:a="http://schemas.openxmlformats.org/drawingml/2006/main">
            <a:r>
              <a:t>Recommendations are hypotheses for this pipeline, not validated improvements.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saved truth and person-level results for b4_combo_static5 / batch 5; current active todo scope as of 2026-10-19. No new GPU results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9b8dd089e48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6fcfd0a5947b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IKE_PLAI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BB1F7BF-34BD-4BF4-840C-CED4B943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1064240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85be46b08c49ab" /><Relationship Type="http://schemas.openxmlformats.org/officeDocument/2006/relationships/slideLayout" Target="/ppt/slideLayouts/slideLayout1.xml" Id="Rf3253e8443554974" /><Relationship Type="http://schemas.openxmlformats.org/officeDocument/2006/relationships/slideLayout" Target="/ppt/slideLayouts/slideLayout2.xml" Id="R578470d7e7bd403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253e8443554974"/>
    <p:sldLayoutId xmlns:r="http://schemas.openxmlformats.org/officeDocument/2006/relationships" id="2147483650" r:id="R578470d7e7bd4031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eekly Update">
  <a:themeElements>
    <a:clrScheme name="Weekly Update">
      <a:dk1>
        <a:srgbClr val="000000"/>
      </a:dk1>
      <a:lt1>
        <a:srgbClr val="FFFFFF"/>
      </a:lt1>
      <a:dk2>
        <a:srgbClr val="333333"/>
      </a:dk2>
      <a:lt2>
        <a:srgbClr val="EDEDED"/>
      </a:lt2>
      <a:accent1>
        <a:srgbClr val="FFFF00"/>
      </a:accent1>
      <a:accent2>
        <a:srgbClr val="2E7D32"/>
      </a:accent2>
      <a:accent3>
        <a:srgbClr val="E65100"/>
      </a:accent3>
      <a:accent4>
        <a:srgbClr val="C62828"/>
      </a:accent4>
      <a:accent5>
        <a:srgbClr val="1565C0"/>
      </a:accent5>
      <a:accent6>
        <a:srgbClr val="666666"/>
      </a:accent6>
      <a:hlink>
        <a:srgbClr val="1565C0"/>
      </a:hlink>
      <a:folHlink>
        <a:srgbClr val="666666"/>
      </a:folHlink>
    </a:clrScheme>
    <a:fontScheme name="Weekly Upd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eekly Upda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32838009594006" /><Relationship Type="http://schemas.openxmlformats.org/officeDocument/2006/relationships/notesSlide" Target="/ppt/notesSlides/notesSlide1.xml" Id="Rae16340e0bf64b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51d307013345a7" /><Relationship Type="http://schemas.openxmlformats.org/officeDocument/2006/relationships/notesSlide" Target="/ppt/notesSlides/notesSlide2.xml" Id="R140e5f0cc32f40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e59106af8b47a5" /><Relationship Type="http://schemas.openxmlformats.org/officeDocument/2006/relationships/notesSlide" Target="/ppt/notesSlides/notesSlide3.xml" Id="Rd452b42a069a49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9dae92b19a4d40" /><Relationship Type="http://schemas.openxmlformats.org/officeDocument/2006/relationships/notesSlide" Target="/ppt/notesSlides/notesSlide4.xml" Id="Rd4fb5ed7dc484a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77add46ada455d" /><Relationship Type="http://schemas.openxmlformats.org/officeDocument/2006/relationships/notesSlide" Target="/ppt/notesSlides/notesSlide5.xml" Id="Rcfeb8a5134c848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b42fe74f544936" /><Relationship Type="http://schemas.openxmlformats.org/officeDocument/2006/relationships/notesSlide" Target="/ppt/notesSlides/notesSlide6.xml" Id="R8882d01dabea46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40b58fa2ff48fc" /><Relationship Type="http://schemas.openxmlformats.org/officeDocument/2006/relationships/notesSlide" Target="/ppt/notesSlides/notesSlide7.xml" Id="R561bfa481f1b44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78e7fb902d41aa" /><Relationship Type="http://schemas.openxmlformats.org/officeDocument/2006/relationships/notesSlide" Target="/ppt/notesSlides/notesSlide8.xml" Id="R664ec3f771f54c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a666edc04745cb" /><Relationship Type="http://schemas.openxmlformats.org/officeDocument/2006/relationships/notesSlide" Target="/ppt/notesSlides/notesSlide9.xml" Id="Rcc5114e8dd924c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ba85d555da4c7a" /><Relationship Type="http://schemas.openxmlformats.org/officeDocument/2006/relationships/notesSlide" Target="/ppt/notesSlides/notesSlide10.xml" Id="Rb022252885f640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73fe7f59c94cec" /><Relationship Type="http://schemas.openxmlformats.org/officeDocument/2006/relationships/notesSlide" Target="/ppt/notesSlides/notesSlide11.xml" Id="R384b2af142c04f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db2c18919c47f7" /><Relationship Type="http://schemas.openxmlformats.org/officeDocument/2006/relationships/notesSlide" Target="/ppt/notesSlides/notesSlide12.xml" Id="R392b7adad35e44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9F2049E-BE30-444B-9CC3-AC80DBEA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85800"/>
            <a:ext cx="3657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chemeClr val="tx1"/>
                </a:solidFill>
              </a:rPr>
              <a:t>10/19</a:t>
            </a:r>
          </a:p>
        </p:txBody>
      </p:sp>
      <p:sp>
        <p:nvSpPr>
          <p:cNvPr id="3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DB40145A-6EB1-4D2E-A0A5-C86944CC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554480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Latest results: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420B03F-CDAB-4FF8-831E-671E8E31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103120"/>
            <a:ext cx="1106424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Current best: 19 of 21 people counted with the correct class; no extra false tracks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same four hand-labelled Colonial clips: two day, two night. This is a small test from one camera and one day.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Speed and detector checks help: removing speed gives 17/21; removing the veto gives 18/21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switch-off tests are finished. Their gains overlap; do not add them as separate independent improvements.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Night brightening hurt: gamma 8/11; CLAHE 5/11; best without brightening 9/11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Both-wrong cases identified: a short night rider and a walker labelled cyclist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Next camera test: higher resolution than 720x480, from any year; prefer a conventional lens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Next detection ideas: multi-scale/flip inference and an independent pretrained proposal detector</a:t>
            </a:r>
          </a:p>
        </p:txBody>
      </p:sp>
    </p:spTree>
    <p:extLst>
      <p:ext uri="{BB962C8B-B14F-4D97-AF65-F5344CB8AC3E}">
        <p14:creationId xmlns:p14="http://schemas.microsoft.com/office/powerpoint/2010/main" val="9473052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1DEA861F-7B57-4219-8476-54B24F1B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6583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How the System Works, in Plain English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mlns:a="http://schemas.openxmlformats.org/drawingml/2006/main" x="612648" y="128016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51760"/>
                <a:gridCol w="4663440"/>
                <a:gridCol w="374904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What it does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1. Detector (RT-DETR)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Draws boxes around people and vehicles in each frame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Fine-tuned on about 200 daytime labelled images; night appearance remains difficult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2. Tiles (SAHI)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Also inspects overlapping close-up tiles, plus the full frame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Tiny distant people occupy more of the detector input; tile count depends on image size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3. Tracker (ByteTrack)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Links detections across frames; ID stitching reconnects short gaps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Builds one track per person; linking boxes cannot recover a person never detected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4. Video classifier (X-CLIP)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Uses several views from a track to choose cyclist or pedestrian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Adds appearance and motion evidence, but can disagree with the detector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5. Fusion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Combines X-CLIP, detector cyclist share and image movement speed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Fixed if-then rules resolve some disagreements; no new training is involved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6. Count filters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Normally require 3 s; apply a strict night exception and a still-object filter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Reject flickers and barricades; one short real rider is still rejected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69C757A-DA28-4110-9B94-57514DC3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89788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tx1"/>
                </a:solidFill>
              </a:rPr>
              <a:t>Zones do not remove people. A person on grass can still count if the detector finds them.</a:t>
            </a:r>
          </a:p>
        </p:txBody>
      </p:sp>
    </p:spTree>
    <p:extLst>
      <p:ext uri="{BB962C8B-B14F-4D97-AF65-F5344CB8AC3E}">
        <p14:creationId xmlns:p14="http://schemas.microsoft.com/office/powerpoint/2010/main" val="12293515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E8B749DA-ED86-4E73-8D2E-6E2A95EB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7498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Fusion: Exactly How the Final Label Is Decided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mlns:a="http://schemas.openxmlformats.org/drawingml/2006/main" x="612648" y="128016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3120"/>
                <a:gridCol w="5669280"/>
                <a:gridCol w="329184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Rule (hand-set thresholds)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In words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Start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Use X-CLIP probabilities averaged over the track, weighted toward larger views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X-CLIP supplies the initial label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1. Veto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If X-CLIP says cyclist but detector cyclist share is below 15%: pedestrian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Detector almost never saw a cyclist shape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2. Speed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Lateral tracks seen &gt;=1.5 s: speed &lt;0.8 and detector cyclist &lt;50%: pedestrian; speed &gt;2.0 and detector &gt;=50%: cyclist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Apply only when detector and movement support the change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3. Night short track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21:00-06:00; 0.3-3 s; final label cyclist; detector cyclist &gt;=90%; weighted X-CLIP cyclist &gt;=0.90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 strict exception to the usual 3 s minimum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4. Static filter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After &gt;=3 s: reject if net movement &lt;5 px AND path speed &lt;0.05 body heights/s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Both conditions must hold to reject a still look-alike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B707F78-5BA2-40DD-AA7D-160CF929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440680"/>
            <a:ext cx="11064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chemeClr val="tx1"/>
                </a:solidFill>
              </a:rPr>
              <a:t>These are fixed rules, not a learned equation. Detector cyclist % is the share of detections labelled cyclist. Speed is body heights/s, not MPH. The promote rule stays off.</a:t>
            </a:r>
          </a:p>
        </p:txBody>
      </p:sp>
    </p:spTree>
    <p:extLst>
      <p:ext uri="{BB962C8B-B14F-4D97-AF65-F5344CB8AC3E}">
        <p14:creationId xmlns:p14="http://schemas.microsoft.com/office/powerpoint/2010/main" val="12853013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98AE12B0-69D4-41D1-B147-3AF00974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Speed: Measured Contribution, Not a Guess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2C8747C-346F-4C47-8055-B74740B9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25880"/>
            <a:ext cx="11064240" cy="502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How speed is represented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Smoothed foot-point movement is divided by box height: body heights per second, rather than calibrated road speed.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Hand-set limits: below 0.8 supports walking; above 2.0 supports riding, only when the detector agrees.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Use only left/right motion. Movement toward or away from the camera can look slow because of perspective.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Completed switch-off tests on the same 21 people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Best setup: 19/21. Turn speed off, keep other rules: 17/21. Speed adds two correct counted classifications here.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Turn the detector veto off, keep other rules: 18/21. The veto adds one correct counted classification here.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These are marginal contributions with other rules active. The gains overlap and are not independent.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Keep the rules for now, but do not claim general accuracy or real MPH from this small test.</a:t>
            </a:r>
          </a:p>
        </p:txBody>
      </p:sp>
    </p:spTree>
    <p:extLst>
      <p:ext uri="{BB962C8B-B14F-4D97-AF65-F5344CB8AC3E}">
        <p14:creationId xmlns:p14="http://schemas.microsoft.com/office/powerpoint/2010/main" val="5569538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5C9A9E26-F40A-4979-88CD-3FFCAFDE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Results: Existing Four Truth-Labelled Clips</a:t>
            </a:r>
          </a:p>
        </p:txBody>
      </p:sp>
      <p:graphicFrame>
        <p:nvGraphicFramePr>
          <p:cNvPr id="8" name="Table 0"/>
          <p:cNvGraphicFramePr/>
          <p:nvPr/>
        </p:nvGraphicFramePr>
        <p:xfrm>
          <a:off xmlns:a="http://schemas.openxmlformats.org/drawingml/2006/main" x="612648" y="1280160"/>
          <a:ext xmlns:a="http://schemas.openxmlformats.org/drawingml/2006/main" cx="109728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66160"/>
                <a:gridCol w="1554480"/>
                <a:gridCol w="1463040"/>
                <a:gridCol w="2194560"/>
                <a:gridCol w="219456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Clip (people in my list)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Before changes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+ Tiles (SAHI)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+ Fusion + night rule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+ Ignore still objects (current best)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Night 21:15-21:30 (6)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Day 14:00-14:15 (5)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Night 22:00-22:15, not used to set rules (5)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 (+2 false counts)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 (0 false counts)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Day 12:45-13:00, not used to set rules (5)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Total (21)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33CC19A-2B54-4E51-9579-2485D086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6908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2"/>
                </a:solidFill>
              </a:rPr>
              <a:t>Found = counted with the correct class. Wrong-class and rejected tracks are errors, even if a person was detected.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4FCE794-1DA6-41AC-B529-835C9304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80560"/>
            <a:ext cx="1097280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Two remaining errors: a night walker called cyclist, and a 2.37 s rider rejected by the count filter.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four truth files already exist. No repeat labelling is needed for these clips.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19/21 is promising development evidence, not a general 90.5% accuracy claim. Next: a higher-resolution camera from any year.</a:t>
            </a:r>
          </a:p>
        </p:txBody>
      </p:sp>
    </p:spTree>
    <p:extLst>
      <p:ext uri="{BB962C8B-B14F-4D97-AF65-F5344CB8AC3E}">
        <p14:creationId xmlns:p14="http://schemas.microsoft.com/office/powerpoint/2010/main" val="7663013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4E88828C-4014-40C1-A58E-54B1913D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What Helped and What Did Not</a:t>
            </a:r>
          </a:p>
        </p:txBody>
      </p:sp>
      <p:graphicFrame>
        <p:nvGraphicFramePr>
          <p:cNvPr id="8" name="Table 0"/>
          <p:cNvGraphicFramePr/>
          <p:nvPr/>
        </p:nvGraphicFramePr>
        <p:xfrm>
          <a:off xmlns:a="http://schemas.openxmlformats.org/drawingml/2006/main" x="612648" y="128016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1680"/>
                <a:gridCol w="6675120"/>
                <a:gridCol w="237744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Change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Plain-English purpose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Measured result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Tiles (SAHI)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Inspect small overlapping views so distant people are easier to see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6 -&gt; 13 of 21 found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Fusion + night rule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Combine detector, video label and movement; allow only very certain short night riders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13 -&gt; 19 of 21 found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Ignore still objects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Reject only if net movement &lt;5 px AND path speed &lt;0.05 body heights/s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Two barricade false counts -&gt; zero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Switch-off tests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Keep everything else fixed; remove one rule at a time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No speed: 17/21; no veto: 18/21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5EA0ECC-52DC-4F05-A6F4-BA06F163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61772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tx1"/>
                </a:solidFill>
              </a:rPr>
              <a:t>Fair night-brightening retest: completed results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853B1AF-1391-41A1-9BCE-AA79E185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983480"/>
            <a:ext cx="10972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Gamma: 8/11 correctly counted and labelled; CLAHE: 5/11; current best without brightening: 9/11.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Zero-DCE has no valid result: both jobs failed because its checkpoint was not supplied. Launcher repaired; optional retry only.</a:t>
            </a:r>
          </a:p>
        </p:txBody>
      </p:sp>
    </p:spTree>
    <p:extLst>
      <p:ext uri="{BB962C8B-B14F-4D97-AF65-F5344CB8AC3E}">
        <p14:creationId xmlns:p14="http://schemas.microsoft.com/office/powerpoint/2010/main" val="18859425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7E1558C4-49FD-48C2-B1B2-5EF0200D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77240"/>
            <a:ext cx="603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Higher Resolution: Any Year, Not Just 2025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625BC1-D586-4AC1-B05C-9C274365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71600"/>
            <a:ext cx="10972800" cy="4937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Goal: a source video with more real image detail than Colonial 2019 (720x480)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Year is not a selection rule. A 2022 or 2024 video is suitable if its resolution and useful person detail are higher.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scanned 2022 Curry Ford files were reported as 720x480: another site, but not higher-resolution evidence.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Confirmed candidate: Corrine 706, 960x540 at 15 fps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Only 1.5 times the encoded pixels of 720x480. Its fisheye view performed poorly; lens and scene changes confound the comparison.</a:t>
            </a:r>
          </a:p>
          <a:p xmlns:a="http://schemas.openxmlformats.org/drawingml/2006/main">
            <a:pPr marL="177800" indent="-177800">
              <a:spcBef>
                <a:spcPts val="1000"/>
              </a:spcBef>
              <a:spcAft>
                <a:spcPts val="400"/>
              </a:spcAft>
              <a:buChar char="•"/>
            </a:pPr>
            <a:r>
              <a:rPr sz="17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Next: check metadata, choose one busy 15-minute window, then run the same baseline and best setup</a:t>
            </a:r>
          </a:p>
          <a:p xmlns:a="http://schemas.openxmlformats.org/drawingml/2006/main">
            <a:pPr marL="406400" indent="-203200">
              <a:spcAft>
                <a:spcPts val="300"/>
              </a:spcAft>
              <a:buChar char="•"/>
            </a:pPr>
            <a:r>
              <a:rPr sz="1400">
                <a:solidFill>
                  <a:schemeClr val="tx1"/>
                </a:solidFill>
                <a:latin typeface="Arial"/>
                <a:ea typeface="Arial"/>
                <a:cs typeface="Arial"/>
              </a:rPr>
              <a:t>Prefer a conventional view. New camera: no Colonial zones. New truth is needed only to score that newly selected clip.</a:t>
            </a:r>
          </a:p>
        </p:txBody>
      </p:sp>
    </p:spTree>
    <p:extLst>
      <p:ext uri="{BB962C8B-B14F-4D97-AF65-F5344CB8AC3E}">
        <p14:creationId xmlns:p14="http://schemas.microsoft.com/office/powerpoint/2010/main" val="12831039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39C6E4BA-8359-4B1F-9FBF-5B666B21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31520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Active To-Do: Latest Status</a:t>
            </a:r>
          </a:p>
        </p:txBody>
      </p:sp>
      <p:graphicFrame>
        <p:nvGraphicFramePr>
          <p:cNvPr id="5" name="Table 0"/>
          <p:cNvGraphicFramePr/>
          <p:nvPr/>
        </p:nvGraphicFramePr>
        <p:xfrm>
          <a:off xmlns:a="http://schemas.openxmlformats.org/drawingml/2006/main" x="612648" y="118872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66160"/>
                <a:gridCol w="1371600"/>
                <a:gridCol w="612648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Latest evidence / next step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Fusion + speed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3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19/21; removing speed gives 17/21; removing veto gives 18/21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Try techniques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</a:rPr>
                        <a:t>Done / continue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Tiles and static filtering helped; gamma/CLAHE hurt on fair night tests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Both wrong / one right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Both right 11; both wrong 2; detector-only right 5; X-CLIP-only right 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Higher-resolution camera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</a:rPr>
                        <a:t>Pending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Any year; inspect encoded dimensions and person detail, not the calendar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 s versus shorter tracks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</a:rPr>
                        <a:t>Tested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Keep strict night exception; flat short minimums added false counts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Object tracking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</a:rPr>
                        <a:t>Implemented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ByteTrack + ID stitching; counting and detection errors remain separate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Another-site validation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3"/>
                          </a:solidFill>
                          <a:latin typeface="Arial"/>
                          <a:ea typeface="Arial"/>
                          <a:cs typeface="Arial"/>
                        </a:rPr>
                        <a:t>Pending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Can be the higher-resolution test; score against its own truth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High sensitivity + 12 min review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4"/>
                          </a:solidFill>
                          <a:latin typeface="Arial"/>
                          <a:ea typeface="Arial"/>
                          <a:cs typeface="Arial"/>
                        </a:rPr>
                        <a:t>Prepared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Four candidate jobs over one hour; recall/workload benefit not measured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Walking-away failures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4"/>
                          </a:solidFill>
                          <a:latin typeface="Arial"/>
                          <a:ea typeface="Arial"/>
                          <a:cs typeface="Arial"/>
                        </a:rPr>
                        <a:t>Partial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Existing h5: detector right, X-CLIP wrong; fusion fixes the label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Verify zone outlines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</a:rPr>
                        <a:t>Pending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Check overlay on the correct Colonial frame; zones never remove people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88112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7383C024-FAE1-41BA-83BA-09B112AE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3152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Research Ideas: Evidence and Implementation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mlns:a="http://schemas.openxmlformats.org/drawingml/2006/main" x="612648" y="118872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54880"/>
                <a:gridCol w="1554480"/>
                <a:gridCol w="475488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Status here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Evidence / limit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Sliced detection (SAHI)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</a:rPr>
                        <a:t>Implemented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Saved improvement: 6/21 -&gt; 13/21 before other rules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Detector + X-CLIP + movement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2"/>
                          </a:solidFill>
                          <a:latin typeface="Arial"/>
                          <a:ea typeface="Arial"/>
                          <a:cs typeface="Arial"/>
                        </a:rPr>
                        <a:t>Implemented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Current rules are hand-set; switch-off tests show marginal gains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Night enhancement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3"/>
                          </a:solidFill>
                          <a:latin typeface="Arial"/>
                          <a:ea typeface="Arial"/>
                          <a:cs typeface="Arial"/>
                        </a:rPr>
                        <a:t>Tested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Gamma 8/11; CLAHE 5/11; no valid Zero-DCE run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Multi-scale / flip inference (TTA)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</a:rPr>
                        <a:t>New shortlist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Same detector, extra transformed views; RT-DETR integration and testing still needed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Grounding DINO proposals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4"/>
                          </a:solidFill>
                          <a:latin typeface="Arial"/>
                          <a:ea typeface="Arial"/>
                          <a:cs typeface="Arial"/>
                        </a:rPr>
                        <a:t>New shortlist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Official pretrained code available; inspect hard-frame detections before any counting integration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Temporal detection / BNE-DETR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accent4"/>
                          </a:solidFill>
                          <a:latin typeface="Arial"/>
                          <a:ea typeface="Arial"/>
                          <a:cs typeface="Arial"/>
                        </a:rPr>
                        <a:t>Not integrated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Temporal features were already discussed. BNE-DETR source exists; weights/compatibility unverified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C11476E-DC97-44CE-92D9-5DAE9805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98932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tx1"/>
                </a:solidFill>
              </a:rPr>
              <a:t>A research method is not a result here. Test one change at a time against the same truth and record added false tracks and runtime.</a:t>
            </a:r>
          </a:p>
        </p:txBody>
      </p:sp>
    </p:spTree>
    <p:extLst>
      <p:ext uri="{BB962C8B-B14F-4D97-AF65-F5344CB8AC3E}">
        <p14:creationId xmlns:p14="http://schemas.microsoft.com/office/powerpoint/2010/main" val="19053824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3A0161BD-2CA6-4A69-B617-6B76A12E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3152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Run Next: Validate Before Wider Application</a:t>
            </a:r>
          </a:p>
        </p:txBody>
      </p:sp>
      <p:graphicFrame>
        <p:nvGraphicFramePr>
          <p:cNvPr id="7" name="Table 0"/>
          <p:cNvGraphicFramePr/>
          <p:nvPr/>
        </p:nvGraphicFramePr>
        <p:xfrm>
          <a:off xmlns:a="http://schemas.openxmlformats.org/drawingml/2006/main" x="612648" y="118872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"/>
                <a:gridCol w="3291840"/>
                <a:gridCol w="4023360"/>
                <a:gridCol w="333756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Active action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Prepared code / plan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How to judge it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Find higher-resolution footage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Resolution-aware video scan; no year requirement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Read dimensions, lens type and busiest-window output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Select one useful 15-min clip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Cut the selected window; preserve original image detail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People are visible; do not count upscaled pixels as new detail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Run baseline and current best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run_new_video.sh; correct time/fps and pixel scaling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New truth for this clip only; compare misses and false tracks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Test sensitive candidates + review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Low thresholds; 0.4 s candidate duration; four existing clips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Within 12 min total review for one source hour, count unique real people recovered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Check known error identities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Night: 14:21 and 14:47; day 12:45 clip: 9:54 and 11:17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Watch existing annotated clips; do not relabel all 21 people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Choose a frozen-model experiment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TTA first; Grounding DINO hard-frame audit second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Accept only measured gains without new false-count problems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90C4763-5E69-4494-9E9B-BFE7412A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98932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chemeClr val="tx1"/>
                </a:solidFill>
              </a:rPr>
              <a:t>Keep the four existing truth files. Optional spot-checks are not a new labelling campaign; exact saved video paths are in docs/VIDEO_PATHS.md.</a:t>
            </a:r>
          </a:p>
        </p:txBody>
      </p:sp>
    </p:spTree>
    <p:extLst>
      <p:ext uri="{BB962C8B-B14F-4D97-AF65-F5344CB8AC3E}">
        <p14:creationId xmlns:p14="http://schemas.microsoft.com/office/powerpoint/2010/main" val="195847206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EE7CB970-59CD-4FF4-962C-A30711EE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31520"/>
            <a:ext cx="603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Additional Detection Methods Worth Testing</a:t>
            </a:r>
          </a:p>
        </p:txBody>
      </p:sp>
      <p:graphicFrame>
        <p:nvGraphicFramePr>
          <p:cNvPr id="5" name="Table 0"/>
          <p:cNvGraphicFramePr/>
          <p:nvPr/>
        </p:nvGraphicFramePr>
        <p:xfrm>
          <a:off xmlns:a="http://schemas.openxmlformats.org/drawingml/2006/main" x="612648" y="118872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8960"/>
                <a:gridCol w="4754880"/>
                <a:gridCol w="320040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Method / source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What it could help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Practical limit / first test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Multi-scale + flip inference
Ultralytics TTA guide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Give the frozen detector several views of the same frame; map boxes back and merge duplicates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Extra inference cost. YOLOv5 results do not prove RT-DETR gains; explicit integration needed.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Grounding DINO
IDEA Research, ECCV 2024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 different pretrained model may propose people missed by RT-DETR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Use as a hard-frame audit first. Bicycle alone is not cyclist; no measured gain here.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Temporal feature aggregation
FGFA, ICCV 2017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Combine nearby-frame features so one blurred or poor frame is less damaging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Already discussed, not implemented. Larger model/integration change; not ByteTrack or box coasting.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BNE-DETR
Public source repository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 night-specific detector alternative to investigate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Correction: code exists. Pretrained weights, class support and compatibility are unverified.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Controlled comparison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Keep settings fixed; count correct people, extra tracks and runtime.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Compare current truth, then a new clip; gains here are untested.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2650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FC556656-8F33-4F87-957E-AD784049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73152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tx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Plain-English Glossary</a:t>
            </a:r>
          </a:p>
        </p:txBody>
      </p:sp>
      <p:graphicFrame>
        <p:nvGraphicFramePr>
          <p:cNvPr id="5" name="Table 0"/>
          <p:cNvGraphicFramePr/>
          <p:nvPr/>
        </p:nvGraphicFramePr>
        <p:xfrm>
          <a:off xmlns:a="http://schemas.openxmlformats.org/drawingml/2006/main" x="612648" y="118872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Detector / RT-DETR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The model that draws boxes around people and vehicles in a frame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Fine-tuned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 pretrained model given extra training on labelled project images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X-CLIP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 video model used to label a person track cyclist or pedestrian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Track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Detections linked over time; fragmented tracks can represent the same person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SAHI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Detection on overlapping close-up tiles, followed by merging boxes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Fusion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Fixed rules combine detector, X-CLIP and movement evidence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False count / false track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 counted object with no matching real person, such as a barricade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Truth file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Human observations used to check who appeared and their class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Fisheye / undistort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Very wide curved view / map it into a flatter view using lens assumptions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ByteTrack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The box-association method used here, followed by ID stitching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Ablation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Switch one rule off while keeping the other settings fixed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TTA / higher resolution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Extra transformed detector views / more genuine image detail, independent of year</a:t>
                      </a:r>
                    </a:p>
                  </a:txBody>
                  <a:tcPr marL="73152" marR="73152" marT="36576" marB="36576" anchor="ctr">
                    <a:lnL w="9525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BFBFBF"/>
                      </a:solidFill>
                      <a:prstDash val="solid"/>
                    </a:lnT>
                    <a:lnB w="9525" cmpd="sng">
                      <a:solidFill>
                        <a:srgbClr val="BFBFB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483124"/>
      </p:ext>
    </p:extLst>
  </p:cSld>
</p:sld>
</file>

<file path=ppt/theme/theme1.xml><?xml version="1.0" encoding="utf-8"?>
<a:theme xmlns:a="http://schemas.openxmlformats.org/drawingml/2006/main" name="Weekly Update">
  <a:themeElements>
    <a:clrScheme name="Weekly Update">
      <a:dk1>
        <a:srgbClr val="000000"/>
      </a:dk1>
      <a:lt1>
        <a:srgbClr val="FFFFFF"/>
      </a:lt1>
      <a:dk2>
        <a:srgbClr val="333333"/>
      </a:dk2>
      <a:lt2>
        <a:srgbClr val="EDEDED"/>
      </a:lt2>
      <a:accent1>
        <a:srgbClr val="FFFF00"/>
      </a:accent1>
      <a:accent2>
        <a:srgbClr val="2E7D32"/>
      </a:accent2>
      <a:accent3>
        <a:srgbClr val="E65100"/>
      </a:accent3>
      <a:accent4>
        <a:srgbClr val="C62828"/>
      </a:accent4>
      <a:accent5>
        <a:srgbClr val="1565C0"/>
      </a:accent5>
      <a:accent6>
        <a:srgbClr val="666666"/>
      </a:accent6>
      <a:hlink>
        <a:srgbClr val="1565C0"/>
      </a:hlink>
      <a:folHlink>
        <a:srgbClr val="666666"/>
      </a:folHlink>
    </a:clrScheme>
    <a:fontScheme name="Weekly Upd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eekly Upda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2026-10-19T16:25:16.0490000Z</dcterms:created>
  <dcterms:modified xsi:type="dcterms:W3CDTF">2026-10-19T16:25:16.0490000Z</dcterms:modified>
</coreProperties>
</file>