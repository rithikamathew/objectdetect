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7ce95b1fb04c22" /><Relationship Type="http://schemas.openxmlformats.org/officeDocument/2006/relationships/extended-properties" Target="/docProps/app.xml" Id="R41f4762529b94f85" /><Relationship Type="http://schemas.openxmlformats.org/officeDocument/2006/relationships/officeDocument" Target="/ppt/presentation.xml" Id="R2f5dfe8ec65e46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5bdefe72b4391"/>
  </p:sldMasterIdLst>
  <p:notesMasterIdLst>
    <p:notesMasterId xmlns:r="http://schemas.openxmlformats.org/officeDocument/2006/relationships" r:id="R97550b09463246e0"/>
  </p:notesMasterIdLst>
  <p:sldIdLst>
    <p:sldId xmlns:r="http://schemas.openxmlformats.org/officeDocument/2006/relationships" id="256" r:id="R0dd08dfc7f884acb"/>
    <p:sldId xmlns:r="http://schemas.openxmlformats.org/officeDocument/2006/relationships" id="257" r:id="Rf207a60155434c58"/>
    <p:sldId xmlns:r="http://schemas.openxmlformats.org/officeDocument/2006/relationships" id="258" r:id="Rc73a4ba318c8471f"/>
    <p:sldId xmlns:r="http://schemas.openxmlformats.org/officeDocument/2006/relationships" id="259" r:id="R8e5d1849c08443e4"/>
    <p:sldId xmlns:r="http://schemas.openxmlformats.org/officeDocument/2006/relationships" id="260" r:id="Rc1f3821727ab4b16"/>
    <p:sldId xmlns:r="http://schemas.openxmlformats.org/officeDocument/2006/relationships" id="261" r:id="R67438ae5cb7e4eaf"/>
    <p:sldId xmlns:r="http://schemas.openxmlformats.org/officeDocument/2006/relationships" id="262" r:id="R02126f365f2642dd"/>
    <p:sldId xmlns:r="http://schemas.openxmlformats.org/officeDocument/2006/relationships" id="263" r:id="R1bb9a2a8382842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7473c5ca3649bd" /><Relationship Type="http://schemas.openxmlformats.org/officeDocument/2006/relationships/slideMaster" Target="/ppt/slideMasters/slideMaster1.xml" Id="R03f5bdefe72b4391" /><Relationship Type="http://schemas.openxmlformats.org/officeDocument/2006/relationships/notesMaster" Target="/ppt/notesMasters/notesMaster1.xml" Id="R97550b09463246e0" /><Relationship Type="http://schemas.openxmlformats.org/officeDocument/2006/relationships/presProps" Target="/ppt/presProps.xml" Id="R3e4290a2ed3942b7" /><Relationship Type="http://schemas.openxmlformats.org/officeDocument/2006/relationships/tableStyles" Target="/ppt/tableStyles.xml" Id="R37bc8e192b09435d" /><Relationship Type="http://schemas.openxmlformats.org/officeDocument/2006/relationships/slide" Target="/ppt/slides/slide1.xml" Id="R0dd08dfc7f884acb" /><Relationship Type="http://schemas.openxmlformats.org/officeDocument/2006/relationships/slide" Target="/ppt/slides/slide2.xml" Id="Rf207a60155434c58" /><Relationship Type="http://schemas.openxmlformats.org/officeDocument/2006/relationships/slide" Target="/ppt/slides/slide3.xml" Id="Rc73a4ba318c8471f" /><Relationship Type="http://schemas.openxmlformats.org/officeDocument/2006/relationships/slide" Target="/ppt/slides/slide4.xml" Id="R8e5d1849c08443e4" /><Relationship Type="http://schemas.openxmlformats.org/officeDocument/2006/relationships/slide" Target="/ppt/slides/slide5.xml" Id="Rc1f3821727ab4b16" /><Relationship Type="http://schemas.openxmlformats.org/officeDocument/2006/relationships/slide" Target="/ppt/slides/slide6.xml" Id="R67438ae5cb7e4eaf" /><Relationship Type="http://schemas.openxmlformats.org/officeDocument/2006/relationships/slide" Target="/ppt/slides/slide7.xml" Id="R02126f365f2642dd" /><Relationship Type="http://schemas.openxmlformats.org/officeDocument/2006/relationships/slide" Target="/ppt/slides/slide8.xml" Id="R1bb9a2a83828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ecfe7eb7c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799e2fd54476e" /><Relationship Type="http://schemas.openxmlformats.org/officeDocument/2006/relationships/notesMaster" Target="/ppt/notesMasters/notesMaster1.xml" Id="Re390bf243e7245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e18346b2434b35" /><Relationship Type="http://schemas.openxmlformats.org/officeDocument/2006/relationships/notesMaster" Target="/ppt/notesMasters/notesMaster1.xml" Id="R32dd08798a4243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509729d0e2403d" /><Relationship Type="http://schemas.openxmlformats.org/officeDocument/2006/relationships/notesMaster" Target="/ppt/notesMasters/notesMaster1.xml" Id="R06497057313647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ff63675e82435c" /><Relationship Type="http://schemas.openxmlformats.org/officeDocument/2006/relationships/notesMaster" Target="/ppt/notesMasters/notesMaster1.xml" Id="Ref31d011a61942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88d048e0674b0a" /><Relationship Type="http://schemas.openxmlformats.org/officeDocument/2006/relationships/notesMaster" Target="/ppt/notesMasters/notesMaster1.xml" Id="R9286a8e7199f48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3193ff17204843" /><Relationship Type="http://schemas.openxmlformats.org/officeDocument/2006/relationships/notesMaster" Target="/ppt/notesMasters/notesMaster1.xml" Id="R359623bc8bfc4e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69ea987b4444e1" /><Relationship Type="http://schemas.openxmlformats.org/officeDocument/2006/relationships/notesMaster" Target="/ppt/notesMasters/notesMaster1.xml" Id="R2604cbb8c34e49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e3ec7a824a4484" /><Relationship Type="http://schemas.openxmlformats.org/officeDocument/2006/relationships/notesMaster" Target="/ppt/notesMasters/notesMaster1.xml" Id="R181bb7f5602648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code, owner truth files and measured research results. Identity and zone/speed validation are separate from time-only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code, owner truth files and measured research results. Identity and zone/speed validation are separate from time-only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current v19 fusion: w=max(current_box_height,1); P_class=sum(w*p_class)/sum(w). Initial label argmax(P). Detector veto requires &gt;=20 detector frames: if labelcyclist and cyclist fraction&lt;15%, pedestrian. Promote OFF. Speed after veto, for span&gt;=1.5s and moving_left/right: cyclist→ped if speed&lt;0.8 and cyclistfraction&lt;50%; ped→cyclist if speed&gt;2.0 and fraction&gt;=50%. Night21:00–06:00 short exception: observed duration&gt;=0.3s, finalcyclist, fraction&gt;=90%, weightedP(cyclist)&gt;=0.90. Static reject when span&gt;=3s AND net&lt;5px AND path-speed&lt;0.05heights/s. Sensitivity experiment0.4s minimum BOTHday/night and staticfilterOFF was a separate failed ablation; referenceunchanged.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follows motion_summary and speed_of in v19: centered moving-average smoothing about0.5s, detected foot-point observations only, 2D path sum dividedby observed span, thenmeanboxheight. It is NOT strictlyx-displacement; lateral restriction is a direction gate. Ablation gains are marginal with other rules active, not independent. New labelled_lane_speed outputs20 image-speed values for21truth rows; one candidate has insufficient samples. Full source speed workbook contains23unique Colonial rows:12bikelane including1e-bike and11sidewalk, deduplicated across raw/analysis sheets. Lengths35ftbike/30ftsidewalk; no image gate endpoints or per-persontimestamps in workbook. User believes recordnumbers correspond, but IDs differ from truth IDs; explicit mapping needed. Physical speed code accepts measured gate crossings or independently measured homography; no height-to-mph guess.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code, owner truth files and measured research results. Identity and zone/speed validation are separate from time-only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code, owner truth files and measured research results. Identity and zone/speed validation are separate from time-only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RF-DETRMedium full-frame threshold0.30 saved165frames48proposals9lowoverlap; GroundingDINO165/386/308. These proposal totals cannot rank accuracy. New rf_person_review.py builds a blinded raw-frame person-box task on encountermidpoints plus fixedbackgroundframes; simultaneousencountersdeduplicated, up to37frames (likely33). Match frozen personproposals only, one-to-one IoU&gt;=0.5; reportprecision andrecall on explicitlyreviewedframes. Uncheckedframesexcluded, reviewedemptyframesexplicit. This validatespersonboxes on biased developmentframes, notcyclistmodes, uniquepeopleor continuouscounting. No new inference. Build onclusterwithsbatch code/final_review.slurm; download whole exp_results/final_review_20261020 folder andopenrf_boxes/review.html. Draw everyhuman includingriders/scooterusers; exportperson_box_review.json; scorewithcode/rf_person_review.py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active todo audited against docs/tasks/todo.md and docs/TODO.md. Originalsuite completed; old pendingclaims corrected. Highsensitivity GPUexperimentdone negative; human12minreviewbenefitunmeasured, notclaimedcomplete. Walking-away partial, h5detectorrightXclipwrongfusionfixes; cannot infer cause of absentdetections fromtracksalone. Newsitejobs notclaimedrun; Corrinefisheye is partial/failureevidence notvalidated generalization. Lane/image-speedoutputs only21truthrows;12sidewalk,3bike(includesmotorcycle),1road,5uncertain provisional candidate lanes,20motionvalues; no identity/zoneaccuracy claim. Keep full-day scaling removed,40track/nightfinetuning deferred. Stop furtherdetectorarchitecture sweeps; finalexistingvalidationonly. Original8slideownerfileunchanged; newdatedcopy. ExactCorrinepaths retainedindocs/VIDEO_PATHS.md. User suppliedv2zoneJSON; it hasarea polygons, not physicalgateendpoints. Recordnumberbelief isnotanidentitymap.</a:t>
            </a:r>
          </a:p>
          <a:p xmlns:a="http://schemas.openxmlformats.org/drawingml/2006/main">
            <a:r>
              <a:t>Exact expected Corrine review paths (verify version suffix on cluster):</a:t>
            </a:r>
          </a:p>
          <a:p xmlns:a="http://schemas.openxmlformats.org/drawingml/2006/main">
            <a:r>
              <a:t>/orange/xiangyan/rithika/vision/vision3/best/test_colonial/annotated/research_oct19_hires_base/corrine_706_15min/research_oct19_hires_base__day_0805-0820__control__20250312.mp4</a:t>
            </a:r>
          </a:p>
          <a:p xmlns:a="http://schemas.openxmlformats.org/drawingml/2006/main">
            <a:r>
              <a:t>/orange/xiangyan/rithika/vision/vision3/best/test_colonial/annotated/research_oct19_hires_combo/corrine_706_15min/research_oct19_hires_combo__day_0805-0820__sahi864+speedrule-lateral+shortrule-night+detfuse+staticfilter__20250312.mp4</a:t>
            </a:r>
          </a:p>
          <a:p xmlns:a="http://schemas.openxmlformats.org/drawingml/2006/main">
            <a:r>
              <a:t>/orange/xiangyan/rithika/vision/vision3/best/test_colonial/annotated/research_oct19_hires_tta/corrine_706_15min/research_oct19_hires_tta__day_0805-0820__sahi864+tta-scale-flip+speedrule-lateral+shortrule-night+detfuse+staticfilter__20250312.mp4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6d894f5d94c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b7c76eecf42f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IKE_PLAI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B1F7BF-34BD-4BF4-840C-CED4B94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1064240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9cd0281f1040a4" /><Relationship Type="http://schemas.openxmlformats.org/officeDocument/2006/relationships/slideLayout" Target="/ppt/slideLayouts/slideLayout1.xml" Id="R10dbd66aec6941be" /><Relationship Type="http://schemas.openxmlformats.org/officeDocument/2006/relationships/slideLayout" Target="/ppt/slideLayouts/slideLayout2.xml" Id="R023d94313b3241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bd66aec6941be"/>
    <p:sldLayoutId xmlns:r="http://schemas.openxmlformats.org/officeDocument/2006/relationships" id="2147483650" r:id="R023d94313b324148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153d7d4eb54124" /><Relationship Type="http://schemas.openxmlformats.org/officeDocument/2006/relationships/notesSlide" Target="/ppt/notesSlides/notesSlide1.xml" Id="R80363c67dc03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10e109a534ced" /><Relationship Type="http://schemas.openxmlformats.org/officeDocument/2006/relationships/notesSlide" Target="/ppt/notesSlides/notesSlide2.xml" Id="R6ff1a20a43144e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238a1f1a1249b9" /><Relationship Type="http://schemas.openxmlformats.org/officeDocument/2006/relationships/notesSlide" Target="/ppt/notesSlides/notesSlide3.xml" Id="Rb4d41779bbee49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49e333391428c" /><Relationship Type="http://schemas.openxmlformats.org/officeDocument/2006/relationships/notesSlide" Target="/ppt/notesSlides/notesSlide4.xml" Id="R8e332d8837d841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76ea55de7541c6" /><Relationship Type="http://schemas.openxmlformats.org/officeDocument/2006/relationships/notesSlide" Target="/ppt/notesSlides/notesSlide5.xml" Id="Rc86b4af239f941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18fe3f9a054fae" /><Relationship Type="http://schemas.openxmlformats.org/officeDocument/2006/relationships/notesSlide" Target="/ppt/notesSlides/notesSlide6.xml" Id="Re2009ed5e04647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3286db3f4d4bc2" /><Relationship Type="http://schemas.openxmlformats.org/officeDocument/2006/relationships/notesSlide" Target="/ppt/notesSlides/notesSlide7.xml" Id="R6ca6d36b016643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aa4f98a994979" /><Relationship Type="http://schemas.openxmlformats.org/officeDocument/2006/relationships/notesSlide" Target="/ppt/notesSlides/notesSlide8.xml" Id="Ra8a3f0d2c5944b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1DEA861F-7B57-4219-8476-54B24F1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Key terms before the results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39319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4663440"/>
                <a:gridCol w="37490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Plain-language meaning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Role in this study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Detector / RT-DETR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Suggests boxes around people and vehicles in each image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“V3” is our daytime fine-tuned detector, not the whole system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Tracking / ByteTrack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Links boxes across time and gives an object an ID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repeated ID should follow the same person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Video classifier / X-CLIP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Uses short video crops to suggest cyclist or pedestrian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Adds movement information to the image detector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Tiling / SAHI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Examines overlapping close-up sections of each image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Helps search for small or distant people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TTA: test-time augmentation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Repeats detection at different sizes and with mirrored images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Extra views may help, but may also add false boxes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Relaxed filters (“sensitive”)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Accept weaker detections and tracks lasting only 0.4 seconds; disable the still-object filter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Default confidence 0.25 → 0.15; usual 3-second minimum → 0.4 seconds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69C757A-DA28-4110-9B94-57514DC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89788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tx1"/>
                </a:solidFill>
              </a:rPr>
              <a:t>Reference: usual 3-second minimum, plus a strict NIGHT-only cyclist exception. Broad 0.4-second settings are OFF.</a:t>
            </a:r>
          </a:p>
        </p:txBody>
      </p:sp>
    </p:spTree>
    <p:extLst>
      <p:ext uri="{BB962C8B-B14F-4D97-AF65-F5344CB8AC3E}">
        <p14:creationId xmlns:p14="http://schemas.microsoft.com/office/powerpoint/2010/main" val="12293515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98AE12B0-69D4-41D1-B147-3AF0097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Method: from video to checked counts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C8747C-346F-4C47-8055-B74740B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25880"/>
            <a:ext cx="1106424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The “full system” contains six parts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Fine-tuned RT-DETR (“V3”) detects objects; SAHI examines overlapping close-up tiles.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ByteTrack</a:t>
            </a: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 follows boxes through time; ID stitching reconnects short gaps.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X-CLIP labels video crops; final rules combine labels/motion and reject short or still-object tracks.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Test the same system on four labelled clips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Colonial 2019: 12:45–13:00, 14:00–14:15, 21:15–21:30 and 22:00–22:15.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That is 60 minutes of video and 21 human-labelled people: two daytime clips and two night clips.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“night clips” result repeats only the night subset; it is not a different detector.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Time scores remain provisional; the new identity-required evaluation gives unreviewed tracks no credit.</a:t>
            </a:r>
          </a:p>
        </p:txBody>
      </p:sp>
    </p:spTree>
    <p:extLst>
      <p:ext uri="{BB962C8B-B14F-4D97-AF65-F5344CB8AC3E}">
        <p14:creationId xmlns:p14="http://schemas.microsoft.com/office/powerpoint/2010/main" val="5569538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E8B749DA-ED86-4E73-8D2E-6E2A95E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7498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Fusion: Exactly How the Final Label Is Decided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37216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5669280"/>
                <a:gridCol w="32918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Rule (hand-set thresholds)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 words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Start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Weighted X-CLIP mean = sum(box height × class probability) ÷ sum(box heights); choose the larger class score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X-CLIP supplies the initial label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1. Veto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With ≥20 detector frames: if X-CLIP says cyclist but detector cyclist share &lt;15%, label pedestrian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Detector almost never saw a cyclist shape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2. Speed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Lateral tracks seen &gt;=1.5 s: speed &lt;0.8 and detector cyclist &lt;50%: pedestrian; speed &gt;2.0 and detector &gt;=50%: cyclist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Apply only when detector and movement support the change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3. Night short 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21:00-06:00; 0.3-3 s; final label cyclist; detector cyclist &gt;=90%; weighted X-CLIP cyclist &gt;=0.90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strict exception to the usual 3 s minimum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4. Static filter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After &gt;=3 s: reject if net movement &lt;5 px AND path speed &lt;0.05 body heights/s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Both conditions must hold to reject a still look-alike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B707F78-5BA2-40DD-AA7D-160CF92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40680"/>
            <a:ext cx="11064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chemeClr val="tx1"/>
                </a:solidFill>
              </a:rPr>
              <a:t>Fusion uses fixed if–then rules after the weighted video score. Normal minimum: 3 s; only strong NIGHT cyclist tracks may use the 0.3–3 s exception.</a:t>
            </a:r>
          </a:p>
        </p:txBody>
      </p:sp>
    </p:spTree>
    <p:extLst>
      <p:ext uri="{BB962C8B-B14F-4D97-AF65-F5344CB8AC3E}">
        <p14:creationId xmlns:p14="http://schemas.microsoft.com/office/powerpoint/2010/main" val="12853013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98AE12B0-69D4-41D1-B147-3AF0097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Speed: formula, contribution and validation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C8747C-346F-4C47-8055-B74740B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25880"/>
            <a:ext cx="1106424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How speed is represented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Smoothed 2-D path (pixels) ÷ elapsed seconds ÷ mean box height (pixels) = body heights per second.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Hand-set cutoffs: below 0.8 supports walking; above 2.0 supports cycling, only when the detector agrees.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Apply the relabelling rule only to left/right tracks; toward/away movement is less reliable.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Completed switch-off tests on the same 21 people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Best setup: 19/21. Turn speed off, keep other rules: 17/21. Speed adds two correct counted classifications here.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Turn the detector veto off, keep other rules: 18/21. The veto adds one correct counted classification here.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are marginal contributions with other rules active. The gains overlap and are not independent.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helps classification; it is not a validated speed measurement in mph.</a:t>
            </a:r>
          </a:p>
        </p:txBody>
      </p:sp>
    </p:spTree>
    <p:extLst>
      <p:ext uri="{BB962C8B-B14F-4D97-AF65-F5344CB8AC3E}">
        <p14:creationId xmlns:p14="http://schemas.microsoft.com/office/powerpoint/2010/main" val="2398346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5C9A9E26-F40A-4979-88CD-3FFCAFDE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Development results on the 21 labelled people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0972800" cy="2560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6160"/>
                <a:gridCol w="1554480"/>
                <a:gridCol w="146304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Clip (people in my list)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Before changes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 Tiles (SAHI)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 Fusion + night rule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 Ignore still objects (current best)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 21:15-21:30 (6)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Day 14:00-14:15 (5)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Additional night clip 22:00–22:15 (5)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 (+2 false counts)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 (0 false counts)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Additional day clip 12:45–13:00 (5)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Total (21)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33CC19A-2B54-4E51-9579-2485D08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690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Found = time-matched and counted with the correct class. It does not confirm that the whole track follows one person.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4FCE794-1DA6-41AC-B529-835C930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80560"/>
            <a:ext cx="109728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Remaining errors: short cyclist n5 at 14:21–14:26 rejected; pedestrian n6 at 14:47–14:58 labelled cyclist.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Truth files stay unchanged. Complete-track identity checks are needed to rule out object-to-person ID switches.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19/21 is development evidence from one camera/day. These repeatedly inspected clips are not an independent test set.</a:t>
            </a:r>
          </a:p>
        </p:txBody>
      </p:sp>
    </p:spTree>
    <p:extLst>
      <p:ext uri="{BB962C8B-B14F-4D97-AF65-F5344CB8AC3E}">
        <p14:creationId xmlns:p14="http://schemas.microsoft.com/office/powerpoint/2010/main" val="30665118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5C9A9E26-F40A-4979-88CD-3FFCAFDE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Results on the four Colonial clips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0972800" cy="2560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6160"/>
                <a:gridCol w="1554480"/>
                <a:gridCol w="146304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Method / videos tested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Correct / labelled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Extra people counted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Processing min*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Verdict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Full system — 4 clips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42.0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Keep for now; 2 errors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Full system + TTA — 4 clips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88.5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No gain; IDs jump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Relaxed filters — 0.4 s day/night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39.7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Many extra counts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Same system — 2 night clips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9/11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42.3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 reference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Brighten night (Zero-DCE)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7/11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51.5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Worse; leave off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4FCE794-1DA6-41AC-B529-835C930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80560"/>
            <a:ext cx="109728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failed sensitive run used 0.4 seconds during BOTH day and night, confidence 0.15 and no static filter.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Reference runs keep the usual 3 seconds and strict night exception. No sensitive settings are enabled in the new-site runs.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latin typeface="Arial"/>
                <a:ea typeface="Arial"/>
                <a:cs typeface="Arial"/>
              </a:rPr>
              <a:t>Extra counts = unmatched tracks (often false objects or duplicates). Processing minutes are per 15-minute video.</a:t>
            </a:r>
          </a:p>
        </p:txBody>
      </p:sp>
    </p:spTree>
    <p:extLst>
      <p:ext uri="{BB962C8B-B14F-4D97-AF65-F5344CB8AC3E}">
        <p14:creationId xmlns:p14="http://schemas.microsoft.com/office/powerpoint/2010/main" val="7663013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7E1558C4-49FD-48C2-B1B2-5EF0200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Checks beyond the original camera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625BC1-D586-4AC1-B05C-9C27436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71600"/>
            <a:ext cx="10972800" cy="493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Different site and year: Corrine 706, March 12, 2025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960×540 fisheye video versus Colonial’s 720×480. Matched runs counted 0 cyclists and 1 pedestrian.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Owner review of the older combination: two distant cyclists missed; an e-scooter labelled pedestrian.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Corrine result: distant-cyclist detection still needs improvement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A parked car had no drawn box; vehicle movement filters can hide a detection. Raw boxes need checking.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RF-DETR and Grounding DINO: no demonstrated counting improvement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Next: label every person in selected raw frames, then compare correct boxes, false boxes and misses at the same IoU rule.</a:t>
            </a:r>
          </a:p>
        </p:txBody>
      </p:sp>
    </p:spTree>
    <p:extLst>
      <p:ext uri="{BB962C8B-B14F-4D97-AF65-F5344CB8AC3E}">
        <p14:creationId xmlns:p14="http://schemas.microsoft.com/office/powerpoint/2010/main" val="12831039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EE7CB970-59CD-4FF4-962C-A30711EE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To-do audit: finished work and final checks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38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8960"/>
                <a:gridCol w="4754880"/>
                <a:gridCol w="32004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Evidence or final step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Fusion, speed and error cases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Done on existing sample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Rules and switch-off tests documented; away-walker explanation remains partial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TTA, sensitive settings, brightening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Completed; do not promote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No gain for TTA; sensitivity adds extras; Zero-DCE worse. Review-pack workload savings unproven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Higher resolution / other sites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Partly validated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Corrine inspected with failures; Anderson2021/CurryFord2022 runs prepared, results not supplied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Identity, lanes and detector boxes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Final validation pending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Confirm full track IDs and lane outlines; review existing RF/DINO raw frames. No new model sweep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Physical cyclist speed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Blocked on correspondence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23 Colonial study rows extracted; need measured gate endpoints and record-to-video links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65082"/>
      </p:ext>
    </p:extLst>
  </p:cSld>
</p:sld>
</file>

<file path=ppt/theme/theme1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2026-10-20T04:24:44.0310000Z</dcterms:created>
  <dcterms:modified xsi:type="dcterms:W3CDTF">2026-10-20T04:24:44.0310000Z</dcterms:modified>
</coreProperties>
</file>