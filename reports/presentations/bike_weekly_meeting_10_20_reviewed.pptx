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75"/>
  </p:normalViewPr>
  <p:slideViewPr>
    <p:cSldViewPr snapToGrid="0">
      <p:cViewPr>
        <p:scale>
          <a:sx n="115" d="100"/>
          <a:sy n="115" d="100"/>
        </p:scale>
        <p:origin x="101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current code, owner truth files and measured research results. Identity and zone/speed validation are separate from time-only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Exact current v19 fusion: w=max(current_box_height,1); P_class=sum(w*p_class)/sum(w). Initial label argmax(P). Detector veto requires &gt;=20 detector frames: if labelcyclist and cyclist fraction&lt;15%, pedestrian. Promote OFF. Speed after veto, for span&gt;=1.5s and moving_left/right: cyclist→ped if speed&lt;0.8 and cyclistfraction&lt;50%; ped→cyclist if speed&gt;2.0 and fraction&gt;=50%. Night21:00–06:00 short exception: observed duration&gt;=0.3s, finalcyclist, fraction&gt;=90%, weightedP(cyclist)&gt;=0.90. Static reject when span&gt;=3s AND net&lt;5px AND path-speed&lt;0.05heights/s. Sensitivity experiment0.4s minimum BOTHday/night and staticfilterOFF was a separate failed ablation; referenceunchanged.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Formula follows motion_summary and speed_of in v19: centered moving-average smoothing about0.5s, detected foot-point observations only, 2D path sum dividedby observed span, thenmeanboxheight. It is NOT strictlyx-displacement; lateral restriction is a direction gate. Ablation gains are marginal with other rules active, not independent. New labelled_lane_speed outputs20 image-speed values for21truth rows; one candidate has insufficient samples. Full source speed workbook contains23unique Colonial rows:12bikelane including1e-bike and11sidewalk, deduplicated across raw/analysis sheets. Lengths35ftbike/30ftsidewalk; no image gate endpoints or per-persontimestamps in workbook. User believes recordnumbers correspond, but IDs differ from truth IDs; explicit mapping needed. Physical speed code accepts measured gate crossings or independently measured homography; no height-to-mph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current code, owner truth files and measured research results. Identity and zone/speed validation are separate from time-only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current code, owner truth files and measured research results. Identity and zone/speed validation are separate from time-only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RF-DETRMedium full-frame threshold0.30 saved165frames48proposals9lowoverlap; GroundingDINO165/386/308. These proposal totals cannot rank accuracy. New rf_person_review.py builds a blinded raw-frame person-box task on encountermidpoints plus fixedbackgroundframes; simultaneousencountersdeduplicated, up to37frames (likely33). Match frozen personproposals only, one-to-one IoU&gt;=0.5; reportprecision andrecall on explicitlyreviewedframes. Uncheckedframesexcluded, reviewedemptyframesexplicit. This validatespersonboxes on biased developmentframes, notcyclistmodes, uniquepeopleor continuouscounting. No new inference. Build onclusterwithsbatch code/final_review.slurm; download whole exp_results/final_review_20261020 folder andopenrf_boxes/review.html. Draw everyhuman includingriders/scooterusers; exportperson_box_review.json; scorewithcode/rf_person_review.py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active todo audited against docs/tasks/todo.md and docs/TODO.md. Originalsuite completed; old pendingclaims corrected. Highsensitivity GPUexperimentdone negative; human12minreviewbenefitunmeasured, notclaimedcomplete. Walking-away partial, h5detectorrightXclipwrongfusionfixes; cannot infer cause of absentdetections fromtracksalone. Newsitejobs notclaimedrun; Corrinefisheye is partial/failureevidence notvalidated generalization. Lane/image-speedoutputs only21truthrows;12sidewalk,3bike(includesmotorcycle),1road,5uncertain provisional candidate lanes,20motionvalues; no identity/zoneaccuracy claim. Keep full-day scaling removed,40track/nightfinetuning deferred. Stop furtherdetectorarchitecture sweeps; finalexistingvalidationonly. Original8slideownerfileunchanged; newdatedcopy. ExactCorrinepaths retainedindocs/VIDEO_PATHS.md. User suppliedv2zoneJSON; it hasarea polygons, not physicalgateendpoints. Recordnumberbelief isnotanidentitymap.</a:t>
            </a:r>
          </a:p>
          <a:p>
            <a:r>
              <a:t>Exact expected Corrine review paths (verify version suffix on cluster):</a:t>
            </a:r>
          </a:p>
          <a:p>
            <a:r>
              <a:t>/orange/xiangyan/rithika/vision/vision3/best/test_colonial/annotated/research_oct19_hires_base/corrine_706_15min/research_oct19_hires_base__day_0805-0820__control__20250312.mp4</a:t>
            </a:r>
          </a:p>
          <a:p>
            <a:r>
              <a:t>/orange/xiangyan/rithika/vision/vision3/best/test_colonial/annotated/research_oct19_hires_combo/corrine_706_15min/research_oct19_hires_combo__day_0805-0820__sahi864+speedrule-lateral+shortrule-night+detfuse+staticfilter__20250312.mp4</a:t>
            </a:r>
          </a:p>
          <a:p>
            <a:r>
              <a:t>/orange/xiangyan/rithika/vision/vision3/best/test_colonial/annotated/research_oct19_hires_tta/corrine_706_15min/research_oct19_hires_tta__day_0805-0820__sahi864+tta-scale-flip+speedrule-lateral+shortrule-night+detfuse+staticfilter__20250312.mp4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KE_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BB1F7BF-34BD-4BF4-840C-CED4B9439A13}"/>
              </a:ext>
            </a:extLst>
          </p:cNvPr>
          <p:cNvSpPr>
            <a:spLocks noGrp="1"/>
          </p:cNvSpPr>
          <p:nvPr/>
        </p:nvSpPr>
        <p:spPr>
          <a:xfrm>
            <a:off x="548640" y="457200"/>
            <a:ext cx="11064240" cy="155448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1DEA861F-7B57-4219-8476-54B24F1B14E8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58368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Key terms before the results</a:t>
            </a:r>
          </a:p>
        </p:txBody>
      </p:sp>
      <p:graphicFrame>
        <p:nvGraphicFramePr>
          <p:cNvPr id="7" name="Table 0"/>
          <p:cNvGraphicFramePr/>
          <p:nvPr/>
        </p:nvGraphicFramePr>
        <p:xfrm>
          <a:off x="612648" y="1280160"/>
          <a:ext cx="11064240" cy="393192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Term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Plain-language meaning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Role in this study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Detector / RT-DETR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Suggests boxes around people and vehicles in each image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“V3” is our daytime fine-tuned detector, not the whole system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Tracking / ByteTrack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Links boxes across time and gives an object an ID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 repeated ID should follow the same person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Video classifier / X-CLIP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Uses short video crops to suggest cyclist or pedestrian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Adds movement information to the image detector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Tiling / SAHI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Examines overlapping close-up sections of each image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Helps search for small or distant people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TTA: test-time augmentation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Repeats detection at different sizes and with mirrored images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Extra views may help, but may also add false boxes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Relaxed filters (“sensitive”)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Accept weaker detections and tracks lasting only 0.4 seconds; disable the still-object filter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Default confidence 0.25 → 0.15; usual 3-second minimum → 0.4 seconds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 1">
            <a:extLst>
              <a:ext uri="{FF2B5EF4-FFF2-40B4-BE49-F238E27FC236}">
                <a16:creationId xmlns:a16="http://schemas.microsoft.com/office/drawing/2014/main" id="{895CC997-7307-B106-3AD8-6C4BB560001A}"/>
              </a:ext>
            </a:extLst>
          </p:cNvPr>
          <p:cNvSpPr>
            <a:spLocks noGrp="1"/>
          </p:cNvSpPr>
          <p:nvPr/>
        </p:nvSpPr>
        <p:spPr>
          <a:xfrm>
            <a:off x="178756" y="5349240"/>
            <a:ext cx="7017572" cy="11013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“full system” contains six parts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Fine-tuned RT-DETR (“V3”) detects objects; SAHI examines overlapping close-up tiles.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 err="1">
                <a:solidFill>
                  <a:schemeClr val="tx1"/>
                </a:solidFill>
                <a:latin typeface="Arial"/>
                <a:ea typeface="Arial"/>
                <a:cs typeface="Arial"/>
              </a:rPr>
              <a:t>ByteTrack</a:t>
            </a: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 follows boxes through time; ID stitching reconnects short gaps.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X-CLIP labels video crops; final rules combine labels/motion and reject short or still-object tracks.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5A3CC2-D8DC-4DA0-8E51-FB7CF0160866}"/>
              </a:ext>
            </a:extLst>
          </p:cNvPr>
          <p:cNvSpPr txBox="1"/>
          <p:nvPr/>
        </p:nvSpPr>
        <p:spPr>
          <a:xfrm>
            <a:off x="7196328" y="5349240"/>
            <a:ext cx="4995672" cy="1305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lang="en-US"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Test the same system on four labelled clips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lang="en-US"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Colonial 2019: 12:45–13:00, 14:00–14:15, 21:15–21:30 and 22:00–22:15.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lang="en-US"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That is 60 minutes of video and 21 human-labelled people: two daytime clips and two night clips.</a:t>
            </a:r>
          </a:p>
        </p:txBody>
      </p:sp>
    </p:spTree>
    <p:extLst>
      <p:ext uri="{BB962C8B-B14F-4D97-AF65-F5344CB8AC3E}">
        <p14:creationId xmlns:p14="http://schemas.microsoft.com/office/powerpoint/2010/main" val="1229351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E8B749DA-ED86-4E73-8D2E-6E2A95EBDB40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749808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Fusion: Exactly How the Final Label Is Decided</a:t>
            </a:r>
          </a:p>
        </p:txBody>
      </p:sp>
      <p:graphicFrame>
        <p:nvGraphicFramePr>
          <p:cNvPr id="7" name="Table 0"/>
          <p:cNvGraphicFramePr/>
          <p:nvPr/>
        </p:nvGraphicFramePr>
        <p:xfrm>
          <a:off x="612648" y="1280160"/>
          <a:ext cx="11064240" cy="372160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Rule (hand-set thresholds)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In words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Start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Weighted X-CLIP mean = sum(box height × class probability) ÷ sum(box heights); choose the larger class score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X-CLIP supplies the initial label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1. Veto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With ≥20 detector frames: if X-CLIP says cyclist but detector cyclist share &lt;15%, label pedestrian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Detector almost never saw a cyclist shape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2. Speed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Lateral tracks seen &gt;=1.5 s: speed &lt;0.8 and detector cyclist &lt;50%: pedestrian; speed &gt;2.0 and detector &gt;=50%: cyclist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Apply only when detector and movement support the change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3. Night short track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21:00-06:00; 0.3-3 s; final label cyclist; detector cyclist &gt;=90%; weighted X-CLIP cyclist &gt;=0.90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 strict exception to the usual 3 s minimum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4. Static filter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After &gt;=3 s: reject if net movement &lt;5 </a:t>
                      </a:r>
                      <a:r>
                        <a:rPr sz="1200" dirty="0" err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px</a:t>
                      </a:r>
                      <a:r>
                        <a:rPr sz="12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 AND path speed &lt;0.05 body heights/s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Both conditions must hold to reject a still look-alike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9B707F78-5BA2-40DD-AA7D-160CF929D2BE}"/>
              </a:ext>
            </a:extLst>
          </p:cNvPr>
          <p:cNvSpPr>
            <a:spLocks noGrp="1"/>
          </p:cNvSpPr>
          <p:nvPr/>
        </p:nvSpPr>
        <p:spPr>
          <a:xfrm>
            <a:off x="612648" y="54406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chemeClr val="tx1"/>
                </a:solidFill>
              </a:rPr>
              <a:t>Fusion uses fixed if–then rules after the weighted video score. Normal minimum: 3 s; only strong NIGHT cyclist tracks may use the 0.3–3 s exception.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4F7E86-BAC7-B280-14CB-FA0F45A63F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0177" y="-230886"/>
            <a:ext cx="4864101" cy="33718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73D816-03B8-16CF-74F4-AA4DAF0032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0177" y="3585270"/>
            <a:ext cx="4553780" cy="39809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B87C86-7126-8707-BD93-742F71C3A5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43276" y="0"/>
            <a:ext cx="5302697" cy="25997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878895-2289-7885-E0FA-3B8A45F816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38469" y="3355183"/>
            <a:ext cx="5093081" cy="329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301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98AE12B0-69D4-41D1-B147-3AF00974C843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768096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Speed: formula, contribution and validation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2C8747C-346F-4C47-8055-B74740B915D2}"/>
              </a:ext>
            </a:extLst>
          </p:cNvPr>
          <p:cNvSpPr>
            <a:spLocks noGrp="1"/>
          </p:cNvSpPr>
          <p:nvPr/>
        </p:nvSpPr>
        <p:spPr>
          <a:xfrm>
            <a:off x="667512" y="1325880"/>
            <a:ext cx="6168717" cy="502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How speed is represented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Smoothed 2-D path (pixels) ÷ elapsed seconds ÷ mean box height (pixels) = body heights per second.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Hand-set cutoffs: below 0.8 supports walking; above 2.0 supports cycling, only when the detector agrees.</a:t>
            </a:r>
            <a:endParaRPr lang="en-US" sz="1400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406400" indent="-203200">
              <a:spcAft>
                <a:spcPts val="300"/>
              </a:spcAft>
              <a:buChar char="•"/>
            </a:pPr>
            <a:endParaRPr lang="en-US" sz="1400" dirty="0">
              <a:latin typeface="Arial"/>
              <a:ea typeface="Arial"/>
              <a:cs typeface="Arial"/>
            </a:endParaRPr>
          </a:p>
          <a:p>
            <a:pPr marL="406400" indent="-203200">
              <a:spcAft>
                <a:spcPts val="300"/>
              </a:spcAft>
              <a:buChar char="•"/>
            </a:pPr>
            <a:endParaRPr sz="1400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Completed switch-off tests on the same 21 people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Best setup: 19/21. Turn speed off, keep other rules: 17/21. Speed adds two correct counted classifications here.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Turn the detector veto off, keep other rules: 18/21. The veto adds one correct counted classification here.</a:t>
            </a:r>
            <a:endParaRPr lang="en-US" sz="1400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406400" indent="-203200">
              <a:spcAft>
                <a:spcPts val="300"/>
              </a:spcAft>
              <a:buChar char="•"/>
            </a:pPr>
            <a:endParaRPr lang="en-US" sz="1400" dirty="0">
              <a:latin typeface="Arial"/>
              <a:ea typeface="Arial"/>
              <a:cs typeface="Arial"/>
            </a:endParaRPr>
          </a:p>
          <a:p>
            <a:pPr marL="406400" indent="-203200">
              <a:spcAft>
                <a:spcPts val="300"/>
              </a:spcAft>
              <a:buChar char="•"/>
            </a:pPr>
            <a:endParaRPr sz="1400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This helps classification; it is not a validated speed measurement in mph.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3E694E-6A0D-6480-D26C-F2EC9B8C8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9493" y="2841353"/>
            <a:ext cx="5080090" cy="36966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4BAAFE-CB6B-1C82-2F17-AA48650ECC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2352" y="777240"/>
            <a:ext cx="3937000" cy="180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34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5C9A9E26-F40A-4979-88CD-3FFCAFDEC3B5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9494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Development results on the 21 labelled people</a:t>
            </a:r>
          </a:p>
        </p:txBody>
      </p:sp>
      <p:graphicFrame>
        <p:nvGraphicFramePr>
          <p:cNvPr id="8" name="Table 0"/>
          <p:cNvGraphicFramePr/>
          <p:nvPr/>
        </p:nvGraphicFramePr>
        <p:xfrm>
          <a:off x="612648" y="1280160"/>
          <a:ext cx="10972800" cy="256032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Clip (people in my list)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Before changes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+ Tiles (SAHI)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+ Fusion + night rule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+ Ignore still objects (current best)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Night 21:15-21:30 (6)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Day 14:00-14:15 (5)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Additional night clip 22:00–22:15 (5)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 (+2 false counts)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 (0 false counts)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Additional day clip 12:45–13:00 (5)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Total (21)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74FCE794-1DA6-41AC-B529-835C9304B923}"/>
              </a:ext>
            </a:extLst>
          </p:cNvPr>
          <p:cNvSpPr>
            <a:spLocks noGrp="1"/>
          </p:cNvSpPr>
          <p:nvPr/>
        </p:nvSpPr>
        <p:spPr>
          <a:xfrm>
            <a:off x="667512" y="4480560"/>
            <a:ext cx="1097280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Remaining errors: short cyclist n5 at 14:21–14:26 rejected; pedestrian n6 at 14:47–14:58 labelled cyclist.</a:t>
            </a:r>
          </a:p>
          <a:p>
            <a:pPr marL="406400" indent="-203200">
              <a:spcAft>
                <a:spcPts val="300"/>
              </a:spcAft>
              <a:buChar char="•"/>
            </a:pPr>
            <a:endParaRPr sz="1400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66511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5C9A9E26-F40A-4979-88CD-3FFCAFDEC3B5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9494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Results on the four Colonial clips</a:t>
            </a:r>
          </a:p>
        </p:txBody>
      </p:sp>
      <p:graphicFrame>
        <p:nvGraphicFramePr>
          <p:cNvPr id="8" name="Table 0"/>
          <p:cNvGraphicFramePr/>
          <p:nvPr/>
        </p:nvGraphicFramePr>
        <p:xfrm>
          <a:off x="612648" y="1280160"/>
          <a:ext cx="10972800" cy="256032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Method / videos tested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Correct / labelled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Extra people counted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Processing min*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Verdict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Full system — 4 clips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19/21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42.0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Keep for now; 2 errors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Full system + TTA — 4 clips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19/21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88.5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No gain; IDs jump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Relaxed filters — 0.4 s day/night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19/21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39.7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Many extra counts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Same system — 2 night clips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9/11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42.3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Night reference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Brighten night (Zero-DCE)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7/11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51.5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Worse; leave off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74FCE794-1DA6-41AC-B529-835C9304B923}"/>
              </a:ext>
            </a:extLst>
          </p:cNvPr>
          <p:cNvSpPr>
            <a:spLocks noGrp="1"/>
          </p:cNvSpPr>
          <p:nvPr/>
        </p:nvSpPr>
        <p:spPr>
          <a:xfrm>
            <a:off x="667512" y="4480560"/>
            <a:ext cx="1097280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failed sensitive run used 0.4 seconds during BOTH day and night, confidence 0.15 and no static filter.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lang="en-US" sz="1400" dirty="0">
                <a:latin typeface="Arial"/>
                <a:ea typeface="Arial"/>
                <a:cs typeface="Arial"/>
              </a:rPr>
              <a:t>*</a:t>
            </a:r>
            <a:r>
              <a:rPr sz="1400" dirty="0">
                <a:latin typeface="Arial"/>
                <a:ea typeface="Arial"/>
                <a:cs typeface="Arial"/>
              </a:rPr>
              <a:t>Processing minutes are per 15-minute video.</a:t>
            </a:r>
            <a:endParaRPr lang="en-US" sz="1400" dirty="0">
              <a:latin typeface="Arial"/>
              <a:ea typeface="Arial"/>
              <a:cs typeface="Arial"/>
            </a:endParaRPr>
          </a:p>
          <a:p>
            <a:pPr marL="406400" indent="-203200">
              <a:spcAft>
                <a:spcPts val="300"/>
              </a:spcAft>
              <a:buChar char="•"/>
            </a:pPr>
            <a:r>
              <a:rPr lang="en-US" sz="1400" b="1" dirty="0"/>
              <a:t>full system:</a:t>
            </a:r>
            <a:r>
              <a:rPr lang="en-US" sz="1400" dirty="0"/>
              <a:t> fine-tuned RT-DETR (“V3”) + SAHI close-up tiles + </a:t>
            </a:r>
            <a:r>
              <a:rPr lang="en-US" sz="1400" dirty="0" err="1"/>
              <a:t>ByteTrack</a:t>
            </a:r>
            <a:r>
              <a:rPr lang="en-US" sz="1400" dirty="0"/>
              <a:t> tracking + ID stitching + X-CLIP classification + motion, duration and static-object rules.</a:t>
            </a:r>
            <a:endParaRPr sz="140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6301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7E1558C4-49FD-48C2-B1B2-5EF0200D12B1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0350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Checks beyond the original camera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625BC1-D586-4AC1-B05C-9C274365CBDF}"/>
              </a:ext>
            </a:extLst>
          </p:cNvPr>
          <p:cNvSpPr>
            <a:spLocks noGrp="1"/>
          </p:cNvSpPr>
          <p:nvPr/>
        </p:nvSpPr>
        <p:spPr>
          <a:xfrm>
            <a:off x="667512" y="1371600"/>
            <a:ext cx="10972800" cy="4937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Different site and year: Corrine 706, March 12, 2025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960×540 fisheye video versus Colonial’s 720×480. Matched runs counted 0 cyclists and 1 pedestrian.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Owner review of the older combination: two distant cyclists missed; an e-scooter labelled pedestrian.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Corrine result: distant-cyclist detection still needs improvement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A parked car had no drawn box; vehicle movement filters can hide a detection. Raw boxes need checking.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RF-DETR and Grounding DINO: no demonstrated counting improvement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5F8739-B7E1-063D-AB6B-08B70693E4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242840"/>
              </p:ext>
            </p:extLst>
          </p:nvPr>
        </p:nvGraphicFramePr>
        <p:xfrm>
          <a:off x="667512" y="3509278"/>
          <a:ext cx="10515600" cy="2194560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1377404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0047753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56965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Clip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RT-DETR Detector correct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X-CLIP correct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07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Night 21:15–21:30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3/6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3/6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8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Day 14:00–14:15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5/5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3/5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5319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Night 22:00–22:15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5/5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39907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Day 12:45–13:00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3/5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5473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16/21 — 76.2%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14/21 — 66.7%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215744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CCDBB32-3F41-FBB4-8BD9-A5862F486EE8}"/>
              </a:ext>
            </a:extLst>
          </p:cNvPr>
          <p:cNvSpPr txBox="1"/>
          <p:nvPr/>
        </p:nvSpPr>
        <p:spPr>
          <a:xfrm>
            <a:off x="551688" y="5703838"/>
            <a:ext cx="106823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The detector did better overall on this sample</a:t>
            </a:r>
            <a:r>
              <a:rPr lang="en-US" sz="1400" dirty="0"/>
              <a:t>, but: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Cyclists:</a:t>
            </a:r>
            <a:r>
              <a:rPr lang="en-US" sz="1400" dirty="0"/>
              <a:t> X-CLIP did better, </a:t>
            </a:r>
            <a:r>
              <a:rPr lang="en-US" sz="1400" b="1" dirty="0"/>
              <a:t>6/8 versus 5/8</a:t>
            </a:r>
            <a:r>
              <a:rPr lang="en-US" sz="1400" dirty="0"/>
              <a:t>. This group includes the motorcycle, following your existing evaluation.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Pedestrians:</a:t>
            </a:r>
            <a:r>
              <a:rPr lang="en-US" sz="1400" dirty="0"/>
              <a:t> detector did better, </a:t>
            </a:r>
            <a:r>
              <a:rPr lang="en-US" sz="1400" b="1" dirty="0"/>
              <a:t>11/13 versus 8/13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Detector alone was right in </a:t>
            </a:r>
            <a:r>
              <a:rPr lang="en-US" sz="1400" b="1" dirty="0"/>
              <a:t>five disagreements</a:t>
            </a:r>
            <a:r>
              <a:rPr lang="en-US" sz="1400" dirty="0"/>
              <a:t>; X-CLIP alone was right in </a:t>
            </a:r>
            <a:r>
              <a:rPr lang="en-US" sz="1400" b="1" dirty="0"/>
              <a:t>three</a:t>
            </a:r>
            <a:r>
              <a:rPr lang="en-US" sz="1400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971D2D-1086-4CFE-1E50-97A04FFDC3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8400" y="1143000"/>
            <a:ext cx="3346450" cy="1401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103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EE7CB970-59CD-4FF4-962C-A30711EE8854}"/>
              </a:ext>
            </a:extLst>
          </p:cNvPr>
          <p:cNvSpPr>
            <a:spLocks noGrp="1"/>
          </p:cNvSpPr>
          <p:nvPr/>
        </p:nvSpPr>
        <p:spPr>
          <a:xfrm>
            <a:off x="612648" y="731520"/>
            <a:ext cx="60350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To-do audit: finished work and final checks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89B36-506C-1315-D39A-22AB8FBE82F0}"/>
              </a:ext>
            </a:extLst>
          </p:cNvPr>
          <p:cNvSpPr txBox="1"/>
          <p:nvPr/>
        </p:nvSpPr>
        <p:spPr>
          <a:xfrm>
            <a:off x="612648" y="1383642"/>
            <a:ext cx="109846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Physical cyclist speed= </a:t>
            </a:r>
            <a:r>
              <a:rPr lang="en-US" sz="1600" dirty="0">
                <a:ea typeface="Arial"/>
                <a:cs typeface="Arial"/>
              </a:rPr>
              <a:t>23 Colonial study rows extracted; need measured gate endpoints and record-to-video links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a typeface="Arial"/>
                <a:cs typeface="Arial"/>
              </a:rPr>
              <a:t>Submit conference ppt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a typeface="Arial"/>
                <a:cs typeface="Arial"/>
              </a:rPr>
              <a:t>Poster prepare + carry-on?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6265082"/>
      </p:ext>
    </p:extLst>
  </p:cSld>
  <p:clrMapOvr>
    <a:masterClrMapping/>
  </p:clrMapOvr>
</p:sld>
</file>

<file path=ppt/theme/theme1.xml><?xml version="1.0" encoding="utf-8"?>
<a:theme xmlns:a="http://schemas.openxmlformats.org/drawingml/2006/main" name="Weekly Update">
  <a:themeElements>
    <a:clrScheme name="Weekly Update">
      <a:dk1>
        <a:srgbClr val="000000"/>
      </a:dk1>
      <a:lt1>
        <a:srgbClr val="FFFFFF"/>
      </a:lt1>
      <a:dk2>
        <a:srgbClr val="333333"/>
      </a:dk2>
      <a:lt2>
        <a:srgbClr val="EDEDED"/>
      </a:lt2>
      <a:accent1>
        <a:srgbClr val="FFFF00"/>
      </a:accent1>
      <a:accent2>
        <a:srgbClr val="2E7D32"/>
      </a:accent2>
      <a:accent3>
        <a:srgbClr val="E65100"/>
      </a:accent3>
      <a:accent4>
        <a:srgbClr val="C62828"/>
      </a:accent4>
      <a:accent5>
        <a:srgbClr val="1565C0"/>
      </a:accent5>
      <a:accent6>
        <a:srgbClr val="666666"/>
      </a:accent6>
      <a:hlink>
        <a:srgbClr val="1565C0"/>
      </a:hlink>
      <a:folHlink>
        <a:srgbClr val="666666"/>
      </a:folHlink>
    </a:clrScheme>
    <a:fontScheme name="Weekly Upda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Weekly Updat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eekly Update">
  <a:themeElements>
    <a:clrScheme name="Weekly Update">
      <a:dk1>
        <a:srgbClr val="000000"/>
      </a:dk1>
      <a:lt1>
        <a:srgbClr val="FFFFFF"/>
      </a:lt1>
      <a:dk2>
        <a:srgbClr val="333333"/>
      </a:dk2>
      <a:lt2>
        <a:srgbClr val="EDEDED"/>
      </a:lt2>
      <a:accent1>
        <a:srgbClr val="FFFF00"/>
      </a:accent1>
      <a:accent2>
        <a:srgbClr val="2E7D32"/>
      </a:accent2>
      <a:accent3>
        <a:srgbClr val="E65100"/>
      </a:accent3>
      <a:accent4>
        <a:srgbClr val="C62828"/>
      </a:accent4>
      <a:accent5>
        <a:srgbClr val="1565C0"/>
      </a:accent5>
      <a:accent6>
        <a:srgbClr val="666666"/>
      </a:accent6>
      <a:hlink>
        <a:srgbClr val="1565C0"/>
      </a:hlink>
      <a:folHlink>
        <a:srgbClr val="666666"/>
      </a:folHlink>
    </a:clrScheme>
    <a:fontScheme name="Weekly Upda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Weekly Updat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1824</Words>
  <Application>Microsoft Macintosh PowerPoint</Application>
  <DocSecurity>0</DocSecurity>
  <PresentationFormat>Widescreen</PresentationFormat>
  <Paragraphs>171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Weekly Update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Mathew, Rithika</cp:lastModifiedBy>
  <cp:revision>1</cp:revision>
  <dcterms:created xsi:type="dcterms:W3CDTF">2026-10-20T04:24:44Z</dcterms:created>
  <dcterms:modified xsi:type="dcterms:W3CDTF">2026-10-20T05:16:49Z</dcterms:modified>
</cp:coreProperties>
</file>