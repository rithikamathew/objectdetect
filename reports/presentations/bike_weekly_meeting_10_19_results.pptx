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61" r:id="rId3"/>
    <p:sldId id="262" r:id="rId4"/>
    <p:sldId id="263" r:id="rId5"/>
    <p:sldId id="257" r:id="rId6"/>
    <p:sldId id="258" r:id="rId7"/>
    <p:sldId id="259" r:id="rId8"/>
    <p:sldId id="260" r:id="rId9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5"/>
  </p:normalViewPr>
  <p:slideViewPr>
    <p:cSldViewPr snapToGrid="0">
      <p:cViewPr varScale="1">
        <p:scale>
          <a:sx n="119" d="100"/>
          <a:sy n="119" d="100"/>
        </p:scale>
        <p:origin x="8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Ground truth means human observations, not model output. V3 refers specifically to the fine-tuned RT-DETR checkpoint. SAHI-like tiling, tracking, X-CLIP and rules are separate components. Source: current code and existing methodology.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Evidence: saved truth and person-level results for b4_combo_static5 / batch 5; current active todo scope as of 2026-10-19. No new GPU results are claimed.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Evidence: saved truth and person-level results for b4_combo_static5 / batch 5; current active todo scope as of 2026-10-19. No new GPU results are claimed.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Evidence: saved truth and person-level results for b4_combo_static5 / batch 5; current active todo scope as of 2026-10-19. No new GPU results are claimed.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reference b4_combo_static5: RT-DETR rtdetr_v3 weights, SAHI 640, ByteTrack and ID stitching, X-CLIP weighted track labels, detector veto 15%, lateral speed rules walk&lt;0.8/ride&gt;2 body heights per second, strict night short-track exception, static filter net displacement&lt;5px AND path speed&lt;0.05 body heights/s for tracks &gt;=3s. Normal minimum duration3s. Existing evaluation greedily matches time with1.5s tolerance; it does not validate spatial identity. No new training in research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results.md and RESEARCH_research_oct19.md, same batch, not independent replications. Raw runtime means rounded once, uncontrolled hardware/load. Sensitive settings jointly changed detection/tracking thresholds to0.15, minimum duration0.4s and disabled static rejection. Owner TTA review at4:30 barricade IDs10/12/20/28; ID12 then on pedestrian22:06:00–22:06:14, ID20 on pedestrian22:10:00–22:10:15; IDs28/35/31 on three pedestrians22:10:58–22:11:17. This flags association errors beyond the time-only score; it does not establish which code stage caused them. Reference19/21 remains a measured time-matching result, not independently identity-verified accuracy.</a:t>
            </a:r>
          </a:p>
          <a:p>
            <a:r>
              <a:t>Explicit definitions added: full system contains the six components on slide2. Four clips=two day+two night; night-only is same configuration on subset. Extra counts are tracks unmatched to human truth, not necessarily extra real people. Runtime is per15minvideo. Sensitive changes confidence.25to.15,duration3to.4s,disablesstaticfilter;notisolatedablation. Identity is not validated by time-only matching.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owner reviewed nv_combo_corrine2025_706 (sahi853); the message gives the newer research_oct19_hires_combo (sahi864) filename with no verdict yet. Do not transfer the older run observations to the newer run as measured errors. Matched base/combo/TTA each0cyclists1pedestrian; no complete Corrine human truth. Scooter is not an explicit supported category in the current cyclist/pedestrian taxonomy. Parked vehicles may be detected but excluded from counted/rendered vehicles by veh_min_disp=40px and other filters. RF-DETR owner-supplied results: night42frames12proposals3low; day41/15/3; night_holdout_220037/3/0; day_holdout_124545/18/3, totals165/48/9. COCO person,bicycle,motorcycle separate classes; no new integrated counting result. Grounding DINO same sampling165frames386proposals308low; proposal quantity cannot rank detector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Corrine review: compare the same video-player timestamps for the two distant cyclists and e-scooter across the three settings. Report whether raw-looking boxes/confirmed IDs/final counts differ, duplicates, object-to-person ID switches. A parked car may be absent because annotations render only confirmed moving/countable vehicles. Newer combo filename was supplied with no review verdict yet. Expected original paths (check actual cluster files for version suffixes):</a:t>
            </a:r>
          </a:p>
          <a:p>
            <a:r>
              <a:t>/orange/xiangyan/rithika/vision/vision3/best/test_colonial/annotated/research_oct19_hires_base/corrine_706_15min/research_oct19_hires_base__day_0805-0820__control__20250312.mp4</a:t>
            </a:r>
          </a:p>
          <a:p>
            <a:r>
              <a:t>/orange/xiangyan/rithika/vision/vision3/best/test_colonial/annotated/research_oct19_hires_combo/corrine_706_15min/research_oct19_hires_combo__day_0805-0820__sahi864+speedrule-lateral+shortrule-night+detfuse+staticfilter__20250312.mp4</a:t>
            </a:r>
          </a:p>
          <a:p>
            <a:r>
              <a:t>/orange/xiangyan/rithika/vision/vision3/best/test_colonial/annotated/research_oct19_hires_tta/corrine_706_15min/research_oct19_hires_tta__day_0805-0820__sahi864+tta-scale-flip+speedrule-lateral+shortrule-night+detfuse+staticfilter__20250312.mp4</a:t>
            </a:r>
          </a:p>
          <a:p>
            <a:r>
              <a:t>New-site launcher: python code/submit_newsites.py --go. Two GPU jobs + final CPU report; fixed 15-minute daytime/noon-preferred windows selected without detector performance. Source clocks inferred from filenames, not verified on screen. Anderson2021 and CurryFordNorth2022 are new to this validation but appear in documented training-data recipe: NOT a strict unseen-site test or controlled higher-resolution comparison. Output report exp_results/NEWSITES_newsites_oct20.md lists actual paths from completed run logs. No cluster execution has been performed in this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KE_PLAI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BB1F7BF-34BD-4BF4-840C-CED4B9439A13}"/>
              </a:ext>
            </a:extLst>
          </p:cNvPr>
          <p:cNvSpPr>
            <a:spLocks noGrp="1"/>
          </p:cNvSpPr>
          <p:nvPr/>
        </p:nvSpPr>
        <p:spPr>
          <a:xfrm>
            <a:off x="548640" y="457200"/>
            <a:ext cx="11064240" cy="155448"/>
          </a:xfrm>
          <a:prstGeom prst="rect">
            <a:avLst/>
          </a:prstGeom>
          <a:solidFill>
            <a:schemeClr val="tx1"/>
          </a:solid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>
            <a:extLst>
              <a:ext uri="{FF2B5EF4-FFF2-40B4-BE49-F238E27FC236}">
                <a16:creationId xmlns:a16="http://schemas.microsoft.com/office/drawing/2014/main" id="{1DEA861F-7B57-4219-8476-54B24F1B14E8}"/>
              </a:ext>
            </a:extLst>
          </p:cNvPr>
          <p:cNvSpPr>
            <a:spLocks noGrp="1"/>
          </p:cNvSpPr>
          <p:nvPr/>
        </p:nvSpPr>
        <p:spPr>
          <a:xfrm>
            <a:off x="612648" y="777240"/>
            <a:ext cx="6583680" cy="365760"/>
          </a:xfrm>
          <a:prstGeom prst="rect">
            <a:avLst/>
          </a:prstGeom>
          <a:noFill/>
        </p:spPr>
        <p:txBody>
          <a:bodyPr wrap="square" lIns="50800" tIns="50800" rIns="50800" bIns="50800" anchor="ctr"/>
          <a:lstStyle/>
          <a:p>
            <a:pPr marL="0" indent="0">
              <a:buNone/>
            </a:pPr>
            <a:r>
              <a:rPr sz="1800">
                <a:solidFill>
                  <a:schemeClr val="tx1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</a:rPr>
              <a:t>Key terms before the results</a:t>
            </a:r>
          </a:p>
        </p:txBody>
      </p:sp>
      <p:graphicFrame>
        <p:nvGraphicFramePr>
          <p:cNvPr id="7" name="Table 0"/>
          <p:cNvGraphicFramePr/>
          <p:nvPr/>
        </p:nvGraphicFramePr>
        <p:xfrm>
          <a:off x="612648" y="1280160"/>
          <a:ext cx="11064240" cy="393192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3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Term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Plain-language meaning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Role in this study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Detector / RT-DETR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Suggests boxes around people and vehicles in each image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“V3” is our daytime fine-tuned detector, not the whole system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Tracking / ByteTrack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Links boxes across time and gives an object an ID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A repeated ID should follow the same person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Video classifier / X-CLIP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Uses short video crops to suggest cyclist or pedestrian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Adds movement information to the image detector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Tiling / SAHI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Examines overlapping close-up sections of each image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Helps search for small or distant people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TTA: test-time augmentation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Repeats detection at different sizes and with mirrored images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Extra views may help, but may also add false boxes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Relaxed filters (“sensitive”)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Accept weaker detections and tracks lasting only 0.4 seconds; disable the still-object filter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5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Default confidence 0.25 → 0.15; usual 3-second minimum → 0.4 seconds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 1">
            <a:extLst>
              <a:ext uri="{FF2B5EF4-FFF2-40B4-BE49-F238E27FC236}">
                <a16:creationId xmlns:a16="http://schemas.microsoft.com/office/drawing/2014/main" id="{D69C757A-DA28-4110-9B94-57514DC3CE6C}"/>
              </a:ext>
            </a:extLst>
          </p:cNvPr>
          <p:cNvSpPr>
            <a:spLocks noGrp="1"/>
          </p:cNvSpPr>
          <p:nvPr/>
        </p:nvSpPr>
        <p:spPr>
          <a:xfrm>
            <a:off x="612648" y="58978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chemeClr val="tx1"/>
                </a:solidFill>
              </a:rPr>
              <a:t>Goal: count real cyclists and pedestrians once, then compare with human observations.</a:t>
            </a:r>
          </a:p>
        </p:txBody>
      </p:sp>
    </p:spTree>
    <p:extLst>
      <p:ext uri="{BB962C8B-B14F-4D97-AF65-F5344CB8AC3E}">
        <p14:creationId xmlns:p14="http://schemas.microsoft.com/office/powerpoint/2010/main" val="12293515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>
            <a:extLst>
              <a:ext uri="{FF2B5EF4-FFF2-40B4-BE49-F238E27FC236}">
                <a16:creationId xmlns:a16="http://schemas.microsoft.com/office/drawing/2014/main" id="{E8B749DA-ED86-4E73-8D2E-6E2A95EBDB40}"/>
              </a:ext>
            </a:extLst>
          </p:cNvPr>
          <p:cNvSpPr>
            <a:spLocks noGrp="1"/>
          </p:cNvSpPr>
          <p:nvPr/>
        </p:nvSpPr>
        <p:spPr>
          <a:xfrm>
            <a:off x="612648" y="777240"/>
            <a:ext cx="7498080" cy="365760"/>
          </a:xfrm>
          <a:prstGeom prst="rect">
            <a:avLst/>
          </a:prstGeom>
          <a:noFill/>
        </p:spPr>
        <p:txBody>
          <a:bodyPr wrap="square" lIns="50800" tIns="50800" rIns="50800" bIns="50800" anchor="ctr"/>
          <a:lstStyle/>
          <a:p>
            <a:pPr marL="0" indent="0">
              <a:buNone/>
            </a:pPr>
            <a:r>
              <a:rPr sz="1800">
                <a:solidFill>
                  <a:schemeClr val="tx1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</a:rPr>
              <a:t>Fusion: Exactly How the Final Label Is Decided</a:t>
            </a:r>
          </a:p>
        </p:txBody>
      </p:sp>
      <p:graphicFrame>
        <p:nvGraphicFramePr>
          <p:cNvPr id="7" name="Table 0"/>
          <p:cNvGraphicFramePr/>
          <p:nvPr/>
        </p:nvGraphicFramePr>
        <p:xfrm>
          <a:off x="612648" y="1280160"/>
          <a:ext cx="11064240" cy="3721608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Step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Rule (hand-set thresholds)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In words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Start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Use X-CLIP probabilities averaged over the track, weighted toward larger views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X-CLIP supplies the initial label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1. Veto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If X-CLIP says cyclist but detector cyclist share is below 15%: pedestrian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Detector almost never saw a cyclist shape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2. Speed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Lateral tracks seen &gt;=1.5 s: speed &lt;0.8 and detector cyclist &lt;50%: pedestrian; speed &gt;2.0 and detector &gt;=50%: cyclist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Apply only when detector and movement support the change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3. Night short track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21:00-06:00; 0.3-3 s; final label cyclist; detector cyclist &gt;=90%; weighted X-CLIP cyclist &gt;=0.90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A strict exception to the usual 3 s minimum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4. Static filter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After &gt;=3 s: reject if net movement &lt;5 px AND path speed &lt;0.05 body heights/s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Both conditions must hold to reject a still look-alike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>
            <a:extLst>
              <a:ext uri="{FF2B5EF4-FFF2-40B4-BE49-F238E27FC236}">
                <a16:creationId xmlns:a16="http://schemas.microsoft.com/office/drawing/2014/main" id="{9B707F78-5BA2-40DD-AA7D-160CF929D2BE}"/>
              </a:ext>
            </a:extLst>
          </p:cNvPr>
          <p:cNvSpPr>
            <a:spLocks noGrp="1"/>
          </p:cNvSpPr>
          <p:nvPr/>
        </p:nvSpPr>
        <p:spPr>
          <a:xfrm>
            <a:off x="612648" y="544068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chemeClr val="tx1"/>
                </a:solidFill>
              </a:rPr>
              <a:t>These are fixed rules, not a learned equation. Detector cyclist % is the share of detections labelled cyclist. Speed is body heights/s, not MPH. The promote rule stays off.</a:t>
            </a:r>
          </a:p>
        </p:txBody>
      </p:sp>
    </p:spTree>
    <p:extLst>
      <p:ext uri="{BB962C8B-B14F-4D97-AF65-F5344CB8AC3E}">
        <p14:creationId xmlns:p14="http://schemas.microsoft.com/office/powerpoint/2010/main" val="12853013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>
            <a:extLst>
              <a:ext uri="{FF2B5EF4-FFF2-40B4-BE49-F238E27FC236}">
                <a16:creationId xmlns:a16="http://schemas.microsoft.com/office/drawing/2014/main" id="{98AE12B0-69D4-41D1-B147-3AF00974C843}"/>
              </a:ext>
            </a:extLst>
          </p:cNvPr>
          <p:cNvSpPr>
            <a:spLocks noGrp="1"/>
          </p:cNvSpPr>
          <p:nvPr/>
        </p:nvSpPr>
        <p:spPr>
          <a:xfrm>
            <a:off x="612648" y="777240"/>
            <a:ext cx="7680960" cy="365760"/>
          </a:xfrm>
          <a:prstGeom prst="rect">
            <a:avLst/>
          </a:prstGeom>
          <a:noFill/>
        </p:spPr>
        <p:txBody>
          <a:bodyPr wrap="square" lIns="50800" tIns="50800" rIns="50800" bIns="50800" anchor="ctr"/>
          <a:lstStyle/>
          <a:p>
            <a:pPr marL="0" indent="0">
              <a:buNone/>
            </a:pPr>
            <a:r>
              <a:rPr sz="1800">
                <a:solidFill>
                  <a:schemeClr val="tx1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</a:rPr>
              <a:t>Speed: Measured Contribution, Not a Guess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2C8747C-346F-4C47-8055-B74740B915D2}"/>
              </a:ext>
            </a:extLst>
          </p:cNvPr>
          <p:cNvSpPr>
            <a:spLocks noGrp="1"/>
          </p:cNvSpPr>
          <p:nvPr/>
        </p:nvSpPr>
        <p:spPr>
          <a:xfrm>
            <a:off x="667512" y="1325880"/>
            <a:ext cx="11064240" cy="502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7800" indent="-177800">
              <a:spcAft>
                <a:spcPts val="400"/>
              </a:spcAft>
              <a:buChar char="•"/>
            </a:pPr>
            <a:r>
              <a:rPr sz="1700" b="1">
                <a:solidFill>
                  <a:schemeClr val="tx1"/>
                </a:solidFill>
                <a:latin typeface="Arial"/>
                <a:ea typeface="Arial"/>
                <a:cs typeface="Arial"/>
              </a:rPr>
              <a:t>How speed is represented</a:t>
            </a:r>
          </a:p>
          <a:p>
            <a:pPr marL="406400" indent="-203200">
              <a:spcAft>
                <a:spcPts val="300"/>
              </a:spcAft>
              <a:buChar char="•"/>
            </a:pPr>
            <a:r>
              <a:rPr sz="1400">
                <a:solidFill>
                  <a:schemeClr val="tx1"/>
                </a:solidFill>
                <a:latin typeface="Arial"/>
                <a:ea typeface="Arial"/>
                <a:cs typeface="Arial"/>
              </a:rPr>
              <a:t>Smoothed foot-point movement is divided by box height: body heights per second, rather than calibrated road speed.</a:t>
            </a:r>
          </a:p>
          <a:p>
            <a:pPr marL="406400" indent="-203200">
              <a:spcAft>
                <a:spcPts val="300"/>
              </a:spcAft>
              <a:buChar char="•"/>
            </a:pPr>
            <a:r>
              <a:rPr sz="1400">
                <a:solidFill>
                  <a:schemeClr val="tx1"/>
                </a:solidFill>
                <a:latin typeface="Arial"/>
                <a:ea typeface="Arial"/>
                <a:cs typeface="Arial"/>
              </a:rPr>
              <a:t>Hand-set limits: below 0.8 supports walking; above 2.0 supports riding, only when the detector agrees.</a:t>
            </a:r>
          </a:p>
          <a:p>
            <a:pPr marL="406400" indent="-203200">
              <a:spcAft>
                <a:spcPts val="300"/>
              </a:spcAft>
              <a:buChar char="•"/>
            </a:pPr>
            <a:r>
              <a:rPr sz="1400">
                <a:solidFill>
                  <a:schemeClr val="tx1"/>
                </a:solidFill>
                <a:latin typeface="Arial"/>
                <a:ea typeface="Arial"/>
                <a:cs typeface="Arial"/>
              </a:rPr>
              <a:t>Use only left/right motion. Movement toward or away from the camera can look slow because of perspective.</a:t>
            </a:r>
          </a:p>
          <a:p>
            <a:pPr marL="177800" indent="-177800">
              <a:spcBef>
                <a:spcPts val="1000"/>
              </a:spcBef>
              <a:spcAft>
                <a:spcPts val="400"/>
              </a:spcAft>
              <a:buChar char="•"/>
            </a:pPr>
            <a:r>
              <a:rPr sz="1700" b="1">
                <a:solidFill>
                  <a:schemeClr val="tx1"/>
                </a:solidFill>
                <a:latin typeface="Arial"/>
                <a:ea typeface="Arial"/>
                <a:cs typeface="Arial"/>
              </a:rPr>
              <a:t>Completed switch-off tests on the same 21 people</a:t>
            </a:r>
          </a:p>
          <a:p>
            <a:pPr marL="406400" indent="-203200">
              <a:spcAft>
                <a:spcPts val="300"/>
              </a:spcAft>
              <a:buChar char="•"/>
            </a:pPr>
            <a:r>
              <a:rPr sz="1400">
                <a:solidFill>
                  <a:schemeClr val="tx1"/>
                </a:solidFill>
                <a:latin typeface="Arial"/>
                <a:ea typeface="Arial"/>
                <a:cs typeface="Arial"/>
              </a:rPr>
              <a:t>Best setup: 19/21. Turn speed off, keep other rules: 17/21. Speed adds two correct counted classifications here.</a:t>
            </a:r>
          </a:p>
          <a:p>
            <a:pPr marL="406400" indent="-203200">
              <a:spcAft>
                <a:spcPts val="300"/>
              </a:spcAft>
              <a:buChar char="•"/>
            </a:pPr>
            <a:r>
              <a:rPr sz="1400">
                <a:solidFill>
                  <a:schemeClr val="tx1"/>
                </a:solidFill>
                <a:latin typeface="Arial"/>
                <a:ea typeface="Arial"/>
                <a:cs typeface="Arial"/>
              </a:rPr>
              <a:t>Turn the detector veto off, keep other rules: 18/21. The veto adds one correct counted classification here.</a:t>
            </a:r>
          </a:p>
          <a:p>
            <a:pPr marL="406400" indent="-203200">
              <a:spcAft>
                <a:spcPts val="300"/>
              </a:spcAft>
              <a:buChar char="•"/>
            </a:pPr>
            <a:r>
              <a:rPr sz="1400">
                <a:solidFill>
                  <a:schemeClr val="tx1"/>
                </a:solidFill>
                <a:latin typeface="Arial"/>
                <a:ea typeface="Arial"/>
                <a:cs typeface="Arial"/>
              </a:rPr>
              <a:t>These are marginal contributions with other rules active. The gains overlap and are not independent.</a:t>
            </a:r>
          </a:p>
          <a:p>
            <a:pPr marL="177800" indent="-177800">
              <a:spcBef>
                <a:spcPts val="1000"/>
              </a:spcBef>
              <a:spcAft>
                <a:spcPts val="400"/>
              </a:spcAft>
              <a:buChar char="•"/>
            </a:pPr>
            <a:r>
              <a:rPr sz="1700" b="1">
                <a:solidFill>
                  <a:schemeClr val="tx1"/>
                </a:solidFill>
                <a:latin typeface="Arial"/>
                <a:ea typeface="Arial"/>
                <a:cs typeface="Arial"/>
              </a:rPr>
              <a:t>Keep the rules for now, but do not claim general accuracy or real MPH from this small test.</a:t>
            </a:r>
          </a:p>
        </p:txBody>
      </p:sp>
    </p:spTree>
    <p:extLst>
      <p:ext uri="{BB962C8B-B14F-4D97-AF65-F5344CB8AC3E}">
        <p14:creationId xmlns:p14="http://schemas.microsoft.com/office/powerpoint/2010/main" val="239834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>
            <a:extLst>
              <a:ext uri="{FF2B5EF4-FFF2-40B4-BE49-F238E27FC236}">
                <a16:creationId xmlns:a16="http://schemas.microsoft.com/office/drawing/2014/main" id="{5C9A9E26-F40A-4979-88CD-3FFCAFDEC3B5}"/>
              </a:ext>
            </a:extLst>
          </p:cNvPr>
          <p:cNvSpPr>
            <a:spLocks noGrp="1"/>
          </p:cNvSpPr>
          <p:nvPr/>
        </p:nvSpPr>
        <p:spPr>
          <a:xfrm>
            <a:off x="612648" y="777240"/>
            <a:ext cx="6949440" cy="365760"/>
          </a:xfrm>
          <a:prstGeom prst="rect">
            <a:avLst/>
          </a:prstGeom>
          <a:noFill/>
        </p:spPr>
        <p:txBody>
          <a:bodyPr wrap="square" lIns="50800" tIns="50800" rIns="50800" bIns="50800" anchor="ctr"/>
          <a:lstStyle/>
          <a:p>
            <a:pPr marL="0" indent="0">
              <a:buNone/>
            </a:pPr>
            <a:r>
              <a:rPr sz="1800">
                <a:solidFill>
                  <a:schemeClr val="tx1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</a:rPr>
              <a:t>Results: Existing Four Truth-Labelled Clips</a:t>
            </a:r>
          </a:p>
        </p:txBody>
      </p:sp>
      <p:graphicFrame>
        <p:nvGraphicFramePr>
          <p:cNvPr id="8" name="Table 0"/>
          <p:cNvGraphicFramePr/>
          <p:nvPr/>
        </p:nvGraphicFramePr>
        <p:xfrm>
          <a:off x="612648" y="1280160"/>
          <a:ext cx="10972800" cy="2560320"/>
        </p:xfrm>
        <a:graphic>
          <a:graphicData uri="http://schemas.openxmlformats.org/drawingml/2006/table">
            <a:tbl>
              <a:tblPr/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Clip (people in my list)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Before changes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+ Tiles (SAHI)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+ Fusion + night rule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+ Ignore still objects (current best)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Night 21:15-21:30 (6)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Day 14:00-14:15 (5)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Night 22:00-22:15, not used to set rules (5)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5 (+2 false counts)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5 (0 false counts)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Day 12:45-13:00, not used to set rules (5)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Total (21)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>
            <a:extLst>
              <a:ext uri="{FF2B5EF4-FFF2-40B4-BE49-F238E27FC236}">
                <a16:creationId xmlns:a16="http://schemas.microsoft.com/office/drawing/2014/main" id="{633CC19A-2B54-4E51-9579-2485D0860C00}"/>
              </a:ext>
            </a:extLst>
          </p:cNvPr>
          <p:cNvSpPr>
            <a:spLocks noGrp="1"/>
          </p:cNvSpPr>
          <p:nvPr/>
        </p:nvSpPr>
        <p:spPr>
          <a:xfrm>
            <a:off x="612648" y="406908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Found = counted with the correct class. Wrong-class and rejected tracks are errors, even if a person was detected.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74FCE794-1DA6-41AC-B529-835C9304B923}"/>
              </a:ext>
            </a:extLst>
          </p:cNvPr>
          <p:cNvSpPr>
            <a:spLocks noGrp="1"/>
          </p:cNvSpPr>
          <p:nvPr/>
        </p:nvSpPr>
        <p:spPr>
          <a:xfrm>
            <a:off x="667512" y="4480560"/>
            <a:ext cx="10972800" cy="1920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406400" indent="-203200">
              <a:spcAft>
                <a:spcPts val="300"/>
              </a:spcAft>
              <a:buChar char="•"/>
            </a:pPr>
            <a:r>
              <a:rPr sz="1400">
                <a:solidFill>
                  <a:schemeClr val="tx1"/>
                </a:solidFill>
                <a:latin typeface="Arial"/>
                <a:ea typeface="Arial"/>
                <a:cs typeface="Arial"/>
              </a:rPr>
              <a:t>Two remaining errors: a night walker called cyclist, and a 2.37 s rider rejected by the count filter.</a:t>
            </a:r>
          </a:p>
          <a:p>
            <a:pPr marL="406400" indent="-203200">
              <a:spcAft>
                <a:spcPts val="300"/>
              </a:spcAft>
              <a:buChar char="•"/>
            </a:pPr>
            <a:r>
              <a:rPr sz="1400">
                <a:solidFill>
                  <a:schemeClr val="tx1"/>
                </a:solidFill>
                <a:latin typeface="Arial"/>
                <a:ea typeface="Arial"/>
                <a:cs typeface="Arial"/>
              </a:rPr>
              <a:t>The four truth files already exist. No repeat labelling is needed for these clips.</a:t>
            </a:r>
          </a:p>
          <a:p>
            <a:pPr marL="406400" indent="-203200">
              <a:spcAft>
                <a:spcPts val="300"/>
              </a:spcAft>
              <a:buChar char="•"/>
            </a:pPr>
            <a:r>
              <a:rPr sz="1400">
                <a:solidFill>
                  <a:schemeClr val="tx1"/>
                </a:solidFill>
                <a:latin typeface="Arial"/>
                <a:ea typeface="Arial"/>
                <a:cs typeface="Arial"/>
              </a:rPr>
              <a:t>19/21 is promising development evidence, not a general 90.5% accuracy claim. Next: a higher-resolution camera from any year.</a:t>
            </a:r>
          </a:p>
        </p:txBody>
      </p:sp>
    </p:spTree>
    <p:extLst>
      <p:ext uri="{BB962C8B-B14F-4D97-AF65-F5344CB8AC3E}">
        <p14:creationId xmlns:p14="http://schemas.microsoft.com/office/powerpoint/2010/main" val="30665118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>
            <a:extLst>
              <a:ext uri="{FF2B5EF4-FFF2-40B4-BE49-F238E27FC236}">
                <a16:creationId xmlns:a16="http://schemas.microsoft.com/office/drawing/2014/main" id="{98AE12B0-69D4-41D1-B147-3AF00974C843}"/>
              </a:ext>
            </a:extLst>
          </p:cNvPr>
          <p:cNvSpPr>
            <a:spLocks noGrp="1"/>
          </p:cNvSpPr>
          <p:nvPr/>
        </p:nvSpPr>
        <p:spPr>
          <a:xfrm>
            <a:off x="612648" y="777240"/>
            <a:ext cx="7680960" cy="365760"/>
          </a:xfrm>
          <a:prstGeom prst="rect">
            <a:avLst/>
          </a:prstGeom>
          <a:noFill/>
        </p:spPr>
        <p:txBody>
          <a:bodyPr wrap="square" lIns="50800" tIns="50800" rIns="50800" bIns="50800" anchor="ctr"/>
          <a:lstStyle/>
          <a:p>
            <a:pPr marL="0" indent="0">
              <a:buNone/>
            </a:pPr>
            <a:r>
              <a:rPr sz="1800">
                <a:solidFill>
                  <a:schemeClr val="tx1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</a:rPr>
              <a:t>Method: from video to checked counts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2C8747C-346F-4C47-8055-B74740B915D2}"/>
              </a:ext>
            </a:extLst>
          </p:cNvPr>
          <p:cNvSpPr>
            <a:spLocks noGrp="1"/>
          </p:cNvSpPr>
          <p:nvPr/>
        </p:nvSpPr>
        <p:spPr>
          <a:xfrm>
            <a:off x="667512" y="1325880"/>
            <a:ext cx="11064240" cy="502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7800" indent="-177800">
              <a:spcAft>
                <a:spcPts val="400"/>
              </a:spcAft>
              <a:buChar char="•"/>
            </a:pPr>
            <a:r>
              <a:rPr sz="1700" b="1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The “full system” contains six parts</a:t>
            </a:r>
          </a:p>
          <a:p>
            <a:pPr marL="406400" indent="-203200">
              <a:spcAft>
                <a:spcPts val="300"/>
              </a:spcAft>
              <a:buChar char="•"/>
            </a:pPr>
            <a:r>
              <a:rPr sz="1400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Fine-tuned RT-DETR (“V3”) detects objects; SAHI examines overlapping close-up tiles.</a:t>
            </a:r>
          </a:p>
          <a:p>
            <a:pPr marL="406400" indent="-203200">
              <a:spcAft>
                <a:spcPts val="300"/>
              </a:spcAft>
              <a:buChar char="•"/>
            </a:pPr>
            <a:r>
              <a:rPr sz="1400" dirty="0" err="1">
                <a:solidFill>
                  <a:schemeClr val="tx1"/>
                </a:solidFill>
                <a:latin typeface="Arial"/>
                <a:ea typeface="Arial"/>
                <a:cs typeface="Arial"/>
              </a:rPr>
              <a:t>ByteTrack</a:t>
            </a:r>
            <a:r>
              <a:rPr sz="1400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 follows boxes through time; ID stitching reconnects short gaps.</a:t>
            </a:r>
          </a:p>
          <a:p>
            <a:pPr marL="406400" indent="-203200">
              <a:spcAft>
                <a:spcPts val="300"/>
              </a:spcAft>
              <a:buChar char="•"/>
            </a:pPr>
            <a:r>
              <a:rPr sz="1400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X-CLIP labels video crops; final rules combine labels/motion and reject short or still-object tracks.</a:t>
            </a:r>
          </a:p>
          <a:p>
            <a:pPr marL="177800" indent="-177800">
              <a:spcBef>
                <a:spcPts val="1000"/>
              </a:spcBef>
              <a:spcAft>
                <a:spcPts val="400"/>
              </a:spcAft>
              <a:buChar char="•"/>
            </a:pPr>
            <a:r>
              <a:rPr sz="1700" b="1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Test the same system on four labelled clips</a:t>
            </a:r>
          </a:p>
          <a:p>
            <a:pPr marL="406400" indent="-203200">
              <a:spcAft>
                <a:spcPts val="300"/>
              </a:spcAft>
              <a:buChar char="•"/>
            </a:pPr>
            <a:r>
              <a:rPr sz="1400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Colonial 2019: 12:45–13:00, 14:00–14:15, 21:15–21:30 and 22:00–22:15.</a:t>
            </a:r>
          </a:p>
          <a:p>
            <a:pPr marL="406400" indent="-203200">
              <a:spcAft>
                <a:spcPts val="300"/>
              </a:spcAft>
              <a:buChar char="•"/>
            </a:pPr>
            <a:r>
              <a:rPr sz="1400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That is 60 minutes of video and 21 human-labelled people: two daytime clips and two night clips.</a:t>
            </a:r>
          </a:p>
          <a:p>
            <a:pPr marL="406400" indent="-203200">
              <a:spcAft>
                <a:spcPts val="300"/>
              </a:spcAft>
              <a:buChar char="•"/>
            </a:pPr>
            <a:r>
              <a:rPr sz="1400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The “night clips” result repeats only the night subset; it is not a different detector.</a:t>
            </a:r>
          </a:p>
          <a:p>
            <a:pPr marL="177800" indent="-177800">
              <a:spcBef>
                <a:spcPts val="1000"/>
              </a:spcBef>
              <a:spcAft>
                <a:spcPts val="400"/>
              </a:spcAft>
              <a:buChar char="•"/>
            </a:pPr>
            <a:r>
              <a:rPr sz="1700" b="1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We check correct labels, extra counts and whether IDs stay on the same person.</a:t>
            </a:r>
          </a:p>
        </p:txBody>
      </p:sp>
    </p:spTree>
    <p:extLst>
      <p:ext uri="{BB962C8B-B14F-4D97-AF65-F5344CB8AC3E}">
        <p14:creationId xmlns:p14="http://schemas.microsoft.com/office/powerpoint/2010/main" val="5569538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>
            <a:extLst>
              <a:ext uri="{FF2B5EF4-FFF2-40B4-BE49-F238E27FC236}">
                <a16:creationId xmlns:a16="http://schemas.microsoft.com/office/drawing/2014/main" id="{5C9A9E26-F40A-4979-88CD-3FFCAFDEC3B5}"/>
              </a:ext>
            </a:extLst>
          </p:cNvPr>
          <p:cNvSpPr>
            <a:spLocks noGrp="1"/>
          </p:cNvSpPr>
          <p:nvPr/>
        </p:nvSpPr>
        <p:spPr>
          <a:xfrm>
            <a:off x="612648" y="777240"/>
            <a:ext cx="6949440" cy="365760"/>
          </a:xfrm>
          <a:prstGeom prst="rect">
            <a:avLst/>
          </a:prstGeom>
          <a:noFill/>
        </p:spPr>
        <p:txBody>
          <a:bodyPr wrap="square" lIns="50800" tIns="50800" rIns="50800" bIns="50800" anchor="ctr"/>
          <a:lstStyle/>
          <a:p>
            <a:pPr marL="0" indent="0">
              <a:buNone/>
            </a:pPr>
            <a:r>
              <a:rPr sz="1800">
                <a:solidFill>
                  <a:schemeClr val="tx1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</a:rPr>
              <a:t>Results on the four Colonial clips</a:t>
            </a:r>
          </a:p>
        </p:txBody>
      </p:sp>
      <p:graphicFrame>
        <p:nvGraphicFramePr>
          <p:cNvPr id="8" name="Table 0"/>
          <p:cNvGraphicFramePr/>
          <p:nvPr>
            <p:extLst>
              <p:ext uri="{D42A27DB-BD31-4B8C-83A1-F6EECF244321}">
                <p14:modId xmlns:p14="http://schemas.microsoft.com/office/powerpoint/2010/main" val="1021173390"/>
              </p:ext>
            </p:extLst>
          </p:nvPr>
        </p:nvGraphicFramePr>
        <p:xfrm>
          <a:off x="612648" y="1280160"/>
          <a:ext cx="10972800" cy="2602992"/>
        </p:xfrm>
        <a:graphic>
          <a:graphicData uri="http://schemas.openxmlformats.org/drawingml/2006/table">
            <a:tbl>
              <a:tblPr/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Method / videos tested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Correct / labelled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Extra people counted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Processing min*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Verdict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Full system — 4 clips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19/21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42.0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Keep for now; 2 errors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Full system + TTA — 4 clips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19/21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88.5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No gain; IDs jump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Relaxed filters — 4 clips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– 0.4 sec day and night</a:t>
                      </a:r>
                      <a:endParaRPr sz="1400" dirty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19/21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28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39.7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Many extra counts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Same system — 2 night clips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9/11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42.3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Night reference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Brighten night (Zero-DCE)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7/11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51.5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 dirty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Worse; leave off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>
            <a:extLst>
              <a:ext uri="{FF2B5EF4-FFF2-40B4-BE49-F238E27FC236}">
                <a16:creationId xmlns:a16="http://schemas.microsoft.com/office/drawing/2014/main" id="{74FCE794-1DA6-41AC-B529-835C9304B923}"/>
              </a:ext>
            </a:extLst>
          </p:cNvPr>
          <p:cNvSpPr>
            <a:spLocks noGrp="1"/>
          </p:cNvSpPr>
          <p:nvPr/>
        </p:nvSpPr>
        <p:spPr>
          <a:xfrm>
            <a:off x="667512" y="4480560"/>
            <a:ext cx="10972800" cy="1920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406400" indent="-203200">
              <a:spcAft>
                <a:spcPts val="300"/>
              </a:spcAft>
              <a:buChar char="•"/>
            </a:pPr>
            <a:r>
              <a:rPr lang="en-US" sz="1400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*Processing minutes = computer time for ONE 15-minute video. The 42-minute result is not the video length.</a:t>
            </a:r>
          </a:p>
          <a:p>
            <a:pPr marL="406400" indent="-203200">
              <a:spcAft>
                <a:spcPts val="300"/>
              </a:spcAft>
              <a:buChar char="•"/>
            </a:pPr>
            <a:r>
              <a:rPr sz="1400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Time matching can give credit to an ID that starts on a barricade, then follows a person. It does not verify identity.</a:t>
            </a:r>
            <a:endParaRPr lang="en-US" sz="1400" dirty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marL="406400" indent="-203200">
              <a:spcAft>
                <a:spcPts val="300"/>
              </a:spcAft>
              <a:buChar char="•"/>
            </a:pPr>
            <a:r>
              <a:rPr lang="en-US" sz="1400" dirty="0">
                <a:latin typeface="Arial"/>
                <a:ea typeface="Arial"/>
                <a:cs typeface="Arial"/>
              </a:rPr>
              <a:t>Full system= </a:t>
            </a:r>
            <a:r>
              <a:rPr lang="en-US" sz="1400" dirty="0"/>
              <a:t>fine-tuned RT-DETR (“V3”) + SAHI close-up tiles + </a:t>
            </a:r>
            <a:r>
              <a:rPr lang="en-US" sz="1400" dirty="0" err="1"/>
              <a:t>ByteTrack</a:t>
            </a:r>
            <a:r>
              <a:rPr lang="en-US" sz="1400" dirty="0"/>
              <a:t> tracking + ID stitching + X-CLIP classification + motion, duration and static-object rules.</a:t>
            </a:r>
            <a:endParaRPr sz="1400" dirty="0">
              <a:solidFill>
                <a:schemeClr val="tx1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663013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>
            <a:extLst>
              <a:ext uri="{FF2B5EF4-FFF2-40B4-BE49-F238E27FC236}">
                <a16:creationId xmlns:a16="http://schemas.microsoft.com/office/drawing/2014/main" id="{7E1558C4-49FD-48C2-B1B2-5EF0200D12B1}"/>
              </a:ext>
            </a:extLst>
          </p:cNvPr>
          <p:cNvSpPr>
            <a:spLocks noGrp="1"/>
          </p:cNvSpPr>
          <p:nvPr/>
        </p:nvSpPr>
        <p:spPr>
          <a:xfrm>
            <a:off x="612648" y="777240"/>
            <a:ext cx="6035040" cy="365760"/>
          </a:xfrm>
          <a:prstGeom prst="rect">
            <a:avLst/>
          </a:prstGeom>
          <a:noFill/>
        </p:spPr>
        <p:txBody>
          <a:bodyPr wrap="square" lIns="50800" tIns="50800" rIns="50800" bIns="50800" anchor="ctr"/>
          <a:lstStyle/>
          <a:p>
            <a:pPr marL="0" indent="0">
              <a:buNone/>
            </a:pPr>
            <a:r>
              <a:rPr sz="1800">
                <a:solidFill>
                  <a:schemeClr val="tx1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</a:rPr>
              <a:t>Checks beyond the original camera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3625BC1-D586-4AC1-B05C-9C274365CBDF}"/>
              </a:ext>
            </a:extLst>
          </p:cNvPr>
          <p:cNvSpPr>
            <a:spLocks noGrp="1"/>
          </p:cNvSpPr>
          <p:nvPr/>
        </p:nvSpPr>
        <p:spPr>
          <a:xfrm>
            <a:off x="667512" y="1371600"/>
            <a:ext cx="10972800" cy="4937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7800" indent="-177800">
              <a:spcAft>
                <a:spcPts val="400"/>
              </a:spcAft>
              <a:buChar char="•"/>
            </a:pPr>
            <a:r>
              <a:rPr sz="1700" b="1">
                <a:solidFill>
                  <a:schemeClr val="tx1"/>
                </a:solidFill>
                <a:latin typeface="Arial"/>
                <a:ea typeface="Arial"/>
                <a:cs typeface="Arial"/>
              </a:rPr>
              <a:t>Different site and year: Corrine 706, March 12, 2025</a:t>
            </a:r>
          </a:p>
          <a:p>
            <a:pPr marL="406400" indent="-203200">
              <a:spcAft>
                <a:spcPts val="300"/>
              </a:spcAft>
              <a:buChar char="•"/>
            </a:pPr>
            <a:r>
              <a:rPr sz="1400">
                <a:solidFill>
                  <a:schemeClr val="tx1"/>
                </a:solidFill>
                <a:latin typeface="Arial"/>
                <a:ea typeface="Arial"/>
                <a:cs typeface="Arial"/>
              </a:rPr>
              <a:t>960×540 fisheye video versus Colonial’s 720×480. Matched runs counted 0 cyclists and 1 pedestrian.</a:t>
            </a:r>
          </a:p>
          <a:p>
            <a:pPr marL="406400" indent="-203200">
              <a:spcAft>
                <a:spcPts val="300"/>
              </a:spcAft>
              <a:buChar char="•"/>
            </a:pPr>
            <a:r>
              <a:rPr sz="1400">
                <a:solidFill>
                  <a:schemeClr val="tx1"/>
                </a:solidFill>
                <a:latin typeface="Arial"/>
                <a:ea typeface="Arial"/>
                <a:cs typeface="Arial"/>
              </a:rPr>
              <a:t>Owner review of the older combination: two distant cyclists missed; an e-scooter labelled pedestrian.</a:t>
            </a:r>
          </a:p>
          <a:p>
            <a:pPr marL="177800" indent="-177800">
              <a:spcBef>
                <a:spcPts val="1000"/>
              </a:spcBef>
              <a:spcAft>
                <a:spcPts val="400"/>
              </a:spcAft>
              <a:buChar char="•"/>
            </a:pPr>
            <a:r>
              <a:rPr sz="1700" b="1">
                <a:solidFill>
                  <a:schemeClr val="tx1"/>
                </a:solidFill>
                <a:latin typeface="Arial"/>
                <a:ea typeface="Arial"/>
                <a:cs typeface="Arial"/>
              </a:rPr>
              <a:t>Corrine result: distant-cyclist detection still needs improvement</a:t>
            </a:r>
          </a:p>
          <a:p>
            <a:pPr marL="406400" indent="-203200">
              <a:spcAft>
                <a:spcPts val="300"/>
              </a:spcAft>
              <a:buChar char="•"/>
            </a:pPr>
            <a:r>
              <a:rPr sz="1400">
                <a:solidFill>
                  <a:schemeClr val="tx1"/>
                </a:solidFill>
                <a:latin typeface="Arial"/>
                <a:ea typeface="Arial"/>
                <a:cs typeface="Arial"/>
              </a:rPr>
              <a:t>A parked car had no drawn box; vehicle movement filters can hide a detection. Raw boxes need checking.</a:t>
            </a:r>
          </a:p>
          <a:p>
            <a:pPr marL="177800" indent="-177800">
              <a:spcBef>
                <a:spcPts val="1000"/>
              </a:spcBef>
              <a:spcAft>
                <a:spcPts val="400"/>
              </a:spcAft>
              <a:buChar char="•"/>
            </a:pPr>
            <a:r>
              <a:rPr sz="1700" b="1">
                <a:solidFill>
                  <a:schemeClr val="tx1"/>
                </a:solidFill>
                <a:latin typeface="Arial"/>
                <a:ea typeface="Arial"/>
                <a:cs typeface="Arial"/>
              </a:rPr>
              <a:t>RF-DETR and Grounding DINO: no demonstrated counting improvement</a:t>
            </a:r>
          </a:p>
          <a:p>
            <a:pPr marL="406400" indent="-203200">
              <a:spcAft>
                <a:spcPts val="300"/>
              </a:spcAft>
              <a:buChar char="•"/>
            </a:pPr>
            <a:r>
              <a:rPr sz="1400">
                <a:solidFill>
                  <a:schemeClr val="tx1"/>
                </a:solidFill>
                <a:latin typeface="Arial"/>
                <a:ea typeface="Arial"/>
                <a:cs typeface="Arial"/>
              </a:rPr>
              <a:t>48 versus 386 suggested boxes on 165 frames is insufficient to judge accuracy. Keep both out of automatic counting.</a:t>
            </a:r>
          </a:p>
        </p:txBody>
      </p:sp>
    </p:spTree>
    <p:extLst>
      <p:ext uri="{BB962C8B-B14F-4D97-AF65-F5344CB8AC3E}">
        <p14:creationId xmlns:p14="http://schemas.microsoft.com/office/powerpoint/2010/main" val="12831039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>
            <a:extLst>
              <a:ext uri="{FF2B5EF4-FFF2-40B4-BE49-F238E27FC236}">
                <a16:creationId xmlns:a16="http://schemas.microsoft.com/office/drawing/2014/main" id="{EE7CB970-59CD-4FF4-962C-A30711EE8854}"/>
              </a:ext>
            </a:extLst>
          </p:cNvPr>
          <p:cNvSpPr>
            <a:spLocks noGrp="1"/>
          </p:cNvSpPr>
          <p:nvPr/>
        </p:nvSpPr>
        <p:spPr>
          <a:xfrm>
            <a:off x="612648" y="731520"/>
            <a:ext cx="6035040" cy="365760"/>
          </a:xfrm>
          <a:prstGeom prst="rect">
            <a:avLst/>
          </a:prstGeom>
          <a:noFill/>
        </p:spPr>
        <p:txBody>
          <a:bodyPr wrap="square" lIns="50800" tIns="50800" rIns="50800" bIns="50800" anchor="ctr"/>
          <a:lstStyle/>
          <a:p>
            <a:pPr marL="0" indent="0">
              <a:buNone/>
            </a:pPr>
            <a:r>
              <a:rPr sz="1800">
                <a:solidFill>
                  <a:schemeClr val="tx1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</a:rPr>
              <a:t>Next checks, with a clear review task</a:t>
            </a:r>
          </a:p>
        </p:txBody>
      </p:sp>
      <p:graphicFrame>
        <p:nvGraphicFramePr>
          <p:cNvPr id="5" name="Table 0"/>
          <p:cNvGraphicFramePr/>
          <p:nvPr/>
        </p:nvGraphicFramePr>
        <p:xfrm>
          <a:off x="612648" y="1188720"/>
          <a:ext cx="11064240" cy="3822192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Priority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What to do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What to report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1. Two additional sites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Run the full system on Anderson St (2021) and Curry Ford North (2022)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One 15-minute clip per site; outputs and exact paths written to a report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2. Corrine comparison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Watch baseline, combination and TTA at the same cyclist/e-scooter timestamps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For each person: box present? correct label? same ID? counted once?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3. Tracking error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Inspect the barricade → pedestrian ID jumps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Report clip time and ID; count scores alone can hide this error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4. Small distant people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Run the separate RF-DETR close-up-tile audit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Check real recovered people and false boxes; not proposal totals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Evidence needed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Use complete human counts before claiming new-site accuracy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rPr>
                        <a:t>New-site GT headers remain “not labelled”; exact review paths in notes</a:t>
                      </a:r>
                    </a:p>
                  </a:txBody>
                  <a:tcPr marL="73152" marR="73152" marT="36576" marB="36576" anchor="ctr">
                    <a:lnL w="9525" cmpd="sng">
                      <a:solidFill>
                        <a:srgbClr val="BFBFBF"/>
                      </a:solidFill>
                      <a:prstDash val="solid"/>
                    </a:lnL>
                    <a:lnR w="9525" cmpd="sng">
                      <a:solidFill>
                        <a:srgbClr val="BFBFBF"/>
                      </a:solidFill>
                      <a:prstDash val="solid"/>
                    </a:lnR>
                    <a:lnT w="9525" cmpd="sng">
                      <a:solidFill>
                        <a:srgbClr val="BFBFBF"/>
                      </a:solidFill>
                      <a:prstDash val="solid"/>
                    </a:lnT>
                    <a:lnB w="9525" cmpd="sng">
                      <a:solidFill>
                        <a:srgbClr val="BFBFB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6265082"/>
      </p:ext>
    </p:extLst>
  </p:cSld>
  <p:clrMapOvr>
    <a:masterClrMapping/>
  </p:clrMapOvr>
</p:sld>
</file>

<file path=ppt/theme/theme1.xml><?xml version="1.0" encoding="utf-8"?>
<a:theme xmlns:a="http://schemas.openxmlformats.org/drawingml/2006/main" name="Weekly Update">
  <a:themeElements>
    <a:clrScheme name="Weekly Update">
      <a:dk1>
        <a:srgbClr val="000000"/>
      </a:dk1>
      <a:lt1>
        <a:srgbClr val="FFFFFF"/>
      </a:lt1>
      <a:dk2>
        <a:srgbClr val="333333"/>
      </a:dk2>
      <a:lt2>
        <a:srgbClr val="EDEDED"/>
      </a:lt2>
      <a:accent1>
        <a:srgbClr val="FFFF00"/>
      </a:accent1>
      <a:accent2>
        <a:srgbClr val="2E7D32"/>
      </a:accent2>
      <a:accent3>
        <a:srgbClr val="E65100"/>
      </a:accent3>
      <a:accent4>
        <a:srgbClr val="C62828"/>
      </a:accent4>
      <a:accent5>
        <a:srgbClr val="1565C0"/>
      </a:accent5>
      <a:accent6>
        <a:srgbClr val="666666"/>
      </a:accent6>
      <a:hlink>
        <a:srgbClr val="1565C0"/>
      </a:hlink>
      <a:folHlink>
        <a:srgbClr val="666666"/>
      </a:folHlink>
    </a:clrScheme>
    <a:fontScheme name="Weekly Updat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Weekly Updat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eekly Update">
  <a:themeElements>
    <a:clrScheme name="Weekly Update">
      <a:dk1>
        <a:srgbClr val="000000"/>
      </a:dk1>
      <a:lt1>
        <a:srgbClr val="FFFFFF"/>
      </a:lt1>
      <a:dk2>
        <a:srgbClr val="333333"/>
      </a:dk2>
      <a:lt2>
        <a:srgbClr val="EDEDED"/>
      </a:lt2>
      <a:accent1>
        <a:srgbClr val="FFFF00"/>
      </a:accent1>
      <a:accent2>
        <a:srgbClr val="2E7D32"/>
      </a:accent2>
      <a:accent3>
        <a:srgbClr val="E65100"/>
      </a:accent3>
      <a:accent4>
        <a:srgbClr val="C62828"/>
      </a:accent4>
      <a:accent5>
        <a:srgbClr val="1565C0"/>
      </a:accent5>
      <a:accent6>
        <a:srgbClr val="666666"/>
      </a:accent6>
      <a:hlink>
        <a:srgbClr val="1565C0"/>
      </a:hlink>
      <a:folHlink>
        <a:srgbClr val="666666"/>
      </a:folHlink>
    </a:clrScheme>
    <a:fontScheme name="Weekly Updat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Weekly Updat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2158</Words>
  <Application>Microsoft Macintosh PowerPoint</Application>
  <DocSecurity>0</DocSecurity>
  <PresentationFormat>Widescreen</PresentationFormat>
  <Paragraphs>172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0" baseType="lpstr">
      <vt:lpstr>Arial</vt:lpstr>
      <vt:lpstr>Weekly Update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Mathew, Rithika</cp:lastModifiedBy>
  <cp:revision>2</cp:revision>
  <dcterms:created xsi:type="dcterms:W3CDTF">2026-10-20T03:49:04Z</dcterms:created>
  <dcterms:modified xsi:type="dcterms:W3CDTF">2026-10-20T04:18:52Z</dcterms:modified>
</cp:coreProperties>
</file>